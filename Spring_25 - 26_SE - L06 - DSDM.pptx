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7"/>
  </p:notesMasterIdLst>
  <p:sldIdLst>
    <p:sldId id="256" r:id="rId2"/>
    <p:sldId id="297" r:id="rId3"/>
    <p:sldId id="303" r:id="rId4"/>
    <p:sldId id="306" r:id="rId5"/>
    <p:sldId id="307" r:id="rId6"/>
    <p:sldId id="308" r:id="rId7"/>
    <p:sldId id="309" r:id="rId8"/>
    <p:sldId id="310" r:id="rId9"/>
    <p:sldId id="312" r:id="rId10"/>
    <p:sldId id="314" r:id="rId11"/>
    <p:sldId id="315" r:id="rId12"/>
    <p:sldId id="316" r:id="rId13"/>
    <p:sldId id="319" r:id="rId14"/>
    <p:sldId id="320" r:id="rId15"/>
    <p:sldId id="31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228340-459E-450E-80A6-8DA4931FEFC6}" v="4" dt="2026-02-10T13:44:52.2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59" d="100"/>
          <a:sy n="59" d="100"/>
        </p:scale>
        <p:origin x="772"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RAIHAN MAHMUD" userId="4a62f7df-4410-48f1-90fd-18890a1620a6" providerId="ADAL" clId="{B2039104-45D9-4CD2-BD34-02CB124718E6}"/>
    <pc:docChg chg="custSel modSld">
      <pc:chgData name="MD. RAIHAN MAHMUD" userId="4a62f7df-4410-48f1-90fd-18890a1620a6" providerId="ADAL" clId="{B2039104-45D9-4CD2-BD34-02CB124718E6}" dt="2026-02-10T13:44:52.223" v="6"/>
      <pc:docMkLst>
        <pc:docMk/>
      </pc:docMkLst>
      <pc:sldChg chg="addSp delSp modSp mod">
        <pc:chgData name="MD. RAIHAN MAHMUD" userId="4a62f7df-4410-48f1-90fd-18890a1620a6" providerId="ADAL" clId="{B2039104-45D9-4CD2-BD34-02CB124718E6}" dt="2026-02-10T13:44:52.223" v="6"/>
        <pc:sldMkLst>
          <pc:docMk/>
          <pc:sldMk cId="2664565021" sldId="256"/>
        </pc:sldMkLst>
        <pc:spChg chg="del">
          <ac:chgData name="MD. RAIHAN MAHMUD" userId="4a62f7df-4410-48f1-90fd-18890a1620a6" providerId="ADAL" clId="{B2039104-45D9-4CD2-BD34-02CB124718E6}" dt="2026-02-10T13:44:46.297" v="2" actId="478"/>
          <ac:spMkLst>
            <pc:docMk/>
            <pc:sldMk cId="2664565021" sldId="256"/>
            <ac:spMk id="2" creationId="{6C40E151-2032-1C69-F91D-A1648A04F871}"/>
          </ac:spMkLst>
        </pc:spChg>
        <pc:spChg chg="del">
          <ac:chgData name="MD. RAIHAN MAHMUD" userId="4a62f7df-4410-48f1-90fd-18890a1620a6" providerId="ADAL" clId="{B2039104-45D9-4CD2-BD34-02CB124718E6}" dt="2026-02-10T13:44:43.646" v="1" actId="478"/>
          <ac:spMkLst>
            <pc:docMk/>
            <pc:sldMk cId="2664565021" sldId="256"/>
            <ac:spMk id="4" creationId="{DDEC2D0E-2EA8-3662-FAE0-B21B1F72F186}"/>
          </ac:spMkLst>
        </pc:spChg>
        <pc:spChg chg="add mod">
          <ac:chgData name="MD. RAIHAN MAHMUD" userId="4a62f7df-4410-48f1-90fd-18890a1620a6" providerId="ADAL" clId="{B2039104-45D9-4CD2-BD34-02CB124718E6}" dt="2026-02-10T13:44:50.282" v="4" actId="1076"/>
          <ac:spMkLst>
            <pc:docMk/>
            <pc:sldMk cId="2664565021" sldId="256"/>
            <ac:spMk id="6" creationId="{C2082529-78D7-4EA7-BFF9-A1D1F62040C8}"/>
          </ac:spMkLst>
        </pc:spChg>
        <pc:spChg chg="add mod">
          <ac:chgData name="MD. RAIHAN MAHMUD" userId="4a62f7df-4410-48f1-90fd-18890a1620a6" providerId="ADAL" clId="{B2039104-45D9-4CD2-BD34-02CB124718E6}" dt="2026-02-10T13:44:52.223" v="6"/>
          <ac:spMkLst>
            <pc:docMk/>
            <pc:sldMk cId="2664565021" sldId="256"/>
            <ac:spMk id="7" creationId="{22531605-265E-D341-E06A-19A415924B94}"/>
          </ac:spMkLst>
        </pc:spChg>
        <pc:picChg chg="del">
          <ac:chgData name="MD. RAIHAN MAHMUD" userId="4a62f7df-4410-48f1-90fd-18890a1620a6" providerId="ADAL" clId="{B2039104-45D9-4CD2-BD34-02CB124718E6}" dt="2026-02-10T13:44:42.145" v="0" actId="478"/>
          <ac:picMkLst>
            <pc:docMk/>
            <pc:sldMk cId="2664565021" sldId="256"/>
            <ac:picMk id="5" creationId="{5BC09274-4AE1-A423-843E-C4F875D687D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10/02/2026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26CA59-B645-4A00-A667-3A942CDB8E2D}" type="slidenum">
              <a:rPr lang="en-GB" smtClean="0"/>
              <a:pPr/>
              <a:t>7</a:t>
            </a:fld>
            <a:endParaRPr lang="en-GB"/>
          </a:p>
        </p:txBody>
      </p:sp>
    </p:spTree>
    <p:extLst>
      <p:ext uri="{BB962C8B-B14F-4D97-AF65-F5344CB8AC3E}">
        <p14:creationId xmlns:p14="http://schemas.microsoft.com/office/powerpoint/2010/main" val="3054523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2/10/2026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2/10/2026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2/10/2026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2/10/2026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2/10/2026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2/10/2026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2/10/2026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2/10/2026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aihan.mahmud@aiub.edu"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768267" y="1009397"/>
            <a:ext cx="3078342" cy="480146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cap="all" dirty="0">
                <a:solidFill>
                  <a:srgbClr val="FFFFFF"/>
                </a:solidFill>
              </a:rPr>
            </a:br>
            <a:br>
              <a:rPr lang="en-US" sz="2400" cap="all" dirty="0">
                <a:solidFill>
                  <a:srgbClr val="FFFFFF"/>
                </a:solidFill>
              </a:rPr>
            </a:br>
            <a:r>
              <a:rPr lang="en-US" sz="2400" cap="all" dirty="0">
                <a:solidFill>
                  <a:srgbClr val="FFFFFF"/>
                </a:solidFill>
              </a:rPr>
              <a:t>software engineering</a:t>
            </a:r>
          </a:p>
          <a:p>
            <a:pPr marL="0" indent="0" algn="ctr">
              <a:buFont typeface="Wingdings 2" panose="05020102010507070707" pitchFamily="18" charset="2"/>
              <a:buNone/>
            </a:pPr>
            <a:r>
              <a:rPr lang="en-US" sz="2400" cap="all" dirty="0">
                <a:solidFill>
                  <a:srgbClr val="FFFFFF"/>
                </a:solidFill>
              </a:rPr>
              <a:t>CSC 3114</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707863"/>
          </a:xfrm>
          <a:prstGeom prst="rect">
            <a:avLst/>
          </a:prstGeom>
        </p:spPr>
        <p:txBody>
          <a:bodyPr vert="horz" lIns="91440" tIns="45720" rIns="91440" bIns="45720" rtlCol="0" anchor="ctr">
            <a:normAutofit fontScale="900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a:solidFill>
                  <a:srgbClr val="C00000"/>
                </a:solidFill>
              </a:rPr>
              <a:t>Chapter 6</a:t>
            </a:r>
            <a:br>
              <a:rPr lang="en-US" sz="3000" dirty="0">
                <a:solidFill>
                  <a:srgbClr val="C00000"/>
                </a:solidFill>
              </a:rPr>
            </a:br>
            <a:br>
              <a:rPr lang="en-US" sz="3000" dirty="0">
                <a:solidFill>
                  <a:schemeClr val="tx2"/>
                </a:solidFill>
              </a:rPr>
            </a:br>
            <a:r>
              <a:rPr lang="en-GB" altLang="en-US" sz="3200" dirty="0">
                <a:solidFill>
                  <a:srgbClr val="002060"/>
                </a:solidFill>
              </a:rPr>
              <a:t>The Dynamic Systems Development Method (DSDM)</a:t>
            </a:r>
            <a:endParaRPr lang="en-US" sz="3000" dirty="0">
              <a:solidFill>
                <a:srgbClr val="002060"/>
              </a:solidFill>
            </a:endParaRP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sp>
        <p:nvSpPr>
          <p:cNvPr id="6" name="Title 1">
            <a:extLst>
              <a:ext uri="{FF2B5EF4-FFF2-40B4-BE49-F238E27FC236}">
                <a16:creationId xmlns:a16="http://schemas.microsoft.com/office/drawing/2014/main" id="{C2082529-78D7-4EA7-BFF9-A1D1F62040C8}"/>
              </a:ext>
            </a:extLst>
          </p:cNvPr>
          <p:cNvSpPr txBox="1">
            <a:spLocks/>
          </p:cNvSpPr>
          <p:nvPr/>
        </p:nvSpPr>
        <p:spPr>
          <a:xfrm>
            <a:off x="8404988" y="3882179"/>
            <a:ext cx="3882556" cy="1646327"/>
          </a:xfrm>
          <a:prstGeom prst="rect">
            <a:avLst/>
          </a:prstGeom>
        </p:spPr>
        <p:txBody>
          <a:bodyPr vert="horz" lIns="91440" tIns="45720" rIns="91440" bIns="45720" rtlCol="0" anchor="ctr">
            <a:normAutofit fontScale="97500"/>
          </a:bodyPr>
          <a:lstStyle>
            <a:defPPr>
              <a:defRPr lang="en-US"/>
            </a:defPPr>
            <a:lvl1pPr marL="0" algn="l" defTabSz="457200" rtl="0" eaLnBrk="1" latinLnBrk="0" hangingPunct="1">
              <a:spcBef>
                <a:spcPct val="0"/>
              </a:spcBef>
              <a:buNone/>
              <a:defRPr sz="2800" b="0" kern="1200" cap="all">
                <a:solidFill>
                  <a:schemeClr val="bg1"/>
                </a:solidFill>
                <a:latin typeface="+mj-lt"/>
                <a:ea typeface="+mj-ea"/>
                <a:cs typeface="+mj-cs"/>
              </a:defRPr>
            </a:lvl1pPr>
            <a:lvl2pPr marL="457200" algn="l" defTabSz="457200" rtl="0" eaLnBrk="1" latinLnBrk="0" hangingPunct="1">
              <a:defRPr sz="1800" kern="1200">
                <a:solidFill>
                  <a:schemeClr val="tx2"/>
                </a:solidFill>
                <a:latin typeface="+mn-lt"/>
                <a:ea typeface="+mn-ea"/>
                <a:cs typeface="+mn-cs"/>
              </a:defRPr>
            </a:lvl2pPr>
            <a:lvl3pPr marL="914400" algn="l" defTabSz="457200" rtl="0" eaLnBrk="1" latinLnBrk="0" hangingPunct="1">
              <a:defRPr sz="1800" kern="1200">
                <a:solidFill>
                  <a:schemeClr val="tx2"/>
                </a:solidFill>
                <a:latin typeface="+mn-lt"/>
                <a:ea typeface="+mn-ea"/>
                <a:cs typeface="+mn-cs"/>
              </a:defRPr>
            </a:lvl3pPr>
            <a:lvl4pPr marL="1371600" algn="l" defTabSz="457200" rtl="0" eaLnBrk="1" latinLnBrk="0" hangingPunct="1">
              <a:defRPr sz="1800" kern="1200">
                <a:solidFill>
                  <a:schemeClr val="tx2"/>
                </a:solidFill>
                <a:latin typeface="+mn-lt"/>
                <a:ea typeface="+mn-ea"/>
                <a:cs typeface="+mn-cs"/>
              </a:defRPr>
            </a:lvl4pPr>
            <a:lvl5pPr marL="1828800" algn="l" defTabSz="457200" rtl="0" eaLnBrk="1" latinLnBrk="0" hangingPunct="1">
              <a:defRPr sz="1800" kern="1200">
                <a:solidFill>
                  <a:schemeClr val="tx2"/>
                </a:solidFill>
                <a:latin typeface="+mn-lt"/>
                <a:ea typeface="+mn-ea"/>
                <a:cs typeface="+mn-cs"/>
              </a:defRPr>
            </a:lvl5pPr>
            <a:lvl6pPr marL="2286000" algn="l" defTabSz="457200" rtl="0" eaLnBrk="1" latinLnBrk="0" hangingPunct="1">
              <a:defRPr sz="1800" kern="1200">
                <a:solidFill>
                  <a:schemeClr val="tx2"/>
                </a:solidFill>
                <a:latin typeface="+mn-lt"/>
                <a:ea typeface="+mn-ea"/>
                <a:cs typeface="+mn-cs"/>
              </a:defRPr>
            </a:lvl6pPr>
            <a:lvl7pPr marL="2743200" algn="l" defTabSz="457200" rtl="0" eaLnBrk="1" latinLnBrk="0" hangingPunct="1">
              <a:defRPr sz="1800" kern="1200">
                <a:solidFill>
                  <a:schemeClr val="tx2"/>
                </a:solidFill>
                <a:latin typeface="+mn-lt"/>
                <a:ea typeface="+mn-ea"/>
                <a:cs typeface="+mn-cs"/>
              </a:defRPr>
            </a:lvl7pPr>
            <a:lvl8pPr marL="3200400" algn="l" defTabSz="457200" rtl="0" eaLnBrk="1" latinLnBrk="0" hangingPunct="1">
              <a:defRPr sz="1800" kern="1200">
                <a:solidFill>
                  <a:schemeClr val="tx2"/>
                </a:solidFill>
                <a:latin typeface="+mn-lt"/>
                <a:ea typeface="+mn-ea"/>
                <a:cs typeface="+mn-cs"/>
              </a:defRPr>
            </a:lvl8pPr>
            <a:lvl9pPr marL="3657600" algn="l" defTabSz="457200" rtl="0" eaLnBrk="1" latinLnBrk="0" hangingPunct="1">
              <a:defRPr sz="1800" kern="1200">
                <a:solidFill>
                  <a:schemeClr val="tx2"/>
                </a:solidFill>
                <a:latin typeface="+mn-lt"/>
                <a:ea typeface="+mn-ea"/>
                <a:cs typeface="+mn-cs"/>
              </a:defRPr>
            </a:lvl9pPr>
          </a:lstStyle>
          <a:p>
            <a:r>
              <a:rPr lang="en-US" sz="2400" dirty="0">
                <a:solidFill>
                  <a:srgbClr val="7030A0"/>
                </a:solidFill>
              </a:rPr>
              <a:t>Md Raihan Mahmud</a:t>
            </a:r>
          </a:p>
          <a:p>
            <a:r>
              <a:rPr lang="en-US" sz="2000" dirty="0">
                <a:solidFill>
                  <a:schemeClr val="tx1"/>
                </a:solidFill>
              </a:rPr>
              <a:t>Lecturer, CS,  AIUB</a:t>
            </a:r>
          </a:p>
          <a:p>
            <a:r>
              <a:rPr lang="en-US" sz="2000" cap="none" dirty="0">
                <a:solidFill>
                  <a:schemeClr val="tx1"/>
                </a:solidFill>
                <a:hlinkClick r:id="rId3"/>
              </a:rPr>
              <a:t>raihan.mahmud@aiub.edu</a:t>
            </a:r>
            <a:r>
              <a:rPr lang="en-US" sz="2000" cap="none" dirty="0">
                <a:solidFill>
                  <a:schemeClr val="tx1"/>
                </a:solidFill>
              </a:rPr>
              <a:t> </a:t>
            </a:r>
            <a:endParaRPr lang="en-US" sz="2300" cap="none" dirty="0"/>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endParaRPr lang="en-GB" dirty="0"/>
          </a:p>
        </p:txBody>
      </p:sp>
      <p:sp>
        <p:nvSpPr>
          <p:cNvPr id="3" name="Content Placeholder 2"/>
          <p:cNvSpPr>
            <a:spLocks noGrp="1"/>
          </p:cNvSpPr>
          <p:nvPr>
            <p:ph idx="1"/>
          </p:nvPr>
        </p:nvSpPr>
        <p:spPr>
          <a:xfrm>
            <a:off x="587829" y="1972493"/>
            <a:ext cx="11051177" cy="3905794"/>
          </a:xfrm>
        </p:spPr>
        <p:txBody>
          <a:bodyPr>
            <a:noAutofit/>
          </a:bodyPr>
          <a:lstStyle/>
          <a:p>
            <a:pPr>
              <a:buFont typeface="Wingdings" pitchFamily="2" charset="2"/>
              <a:buChar char="q"/>
            </a:pPr>
            <a:r>
              <a:rPr lang="en-GB" altLang="en-US" sz="2000" b="1" dirty="0">
                <a:solidFill>
                  <a:srgbClr val="C00000"/>
                </a:solidFill>
                <a:latin typeface="+mj-lt"/>
              </a:rPr>
              <a:t>The Dynamic Systems Development Method (DSDM) </a:t>
            </a:r>
            <a:r>
              <a:rPr lang="en-GB" altLang="en-US" sz="2000" dirty="0">
                <a:latin typeface="+mj-lt"/>
              </a:rPr>
              <a:t>is a public domain Rapid Application Development method which has been developed through capturing the experience of a large group</a:t>
            </a:r>
            <a:br>
              <a:rPr lang="en-GB" altLang="en-US" sz="2000" dirty="0">
                <a:latin typeface="+mj-lt"/>
              </a:rPr>
            </a:br>
            <a:r>
              <a:rPr lang="en-GB" altLang="en-US" sz="2000" dirty="0">
                <a:latin typeface="+mj-lt"/>
              </a:rPr>
              <a:t>of vendor and user organisations. </a:t>
            </a:r>
          </a:p>
          <a:p>
            <a:pPr>
              <a:buFont typeface="Wingdings" pitchFamily="2" charset="2"/>
              <a:buChar char="q"/>
            </a:pPr>
            <a:r>
              <a:rPr lang="en-GB" altLang="en-US" sz="2000" b="1" dirty="0">
                <a:latin typeface="+mj-lt"/>
              </a:rPr>
              <a:t>It is now considered to be the UK's de-facto standard for RAD.</a:t>
            </a:r>
          </a:p>
          <a:p>
            <a:pPr>
              <a:buFont typeface="Wingdings" pitchFamily="2" charset="2"/>
              <a:buChar char="q"/>
            </a:pPr>
            <a:endParaRPr lang="en-GB" altLang="en-US" sz="2000" dirty="0">
              <a:latin typeface="+mj-lt"/>
            </a:endParaRPr>
          </a:p>
          <a:p>
            <a:pPr fontAlgn="t">
              <a:lnSpc>
                <a:spcPct val="90000"/>
              </a:lnSpc>
              <a:buFont typeface="Wingdings" pitchFamily="2" charset="2"/>
              <a:buChar char="q"/>
              <a:defRPr/>
            </a:pPr>
            <a:r>
              <a:rPr lang="en-GB" sz="2000" dirty="0">
                <a:solidFill>
                  <a:srgbClr val="000000"/>
                </a:solidFill>
                <a:cs typeface="Arial" pitchFamily="34" charset="0"/>
              </a:rPr>
              <a:t>The key to DSDM is to deliver </a:t>
            </a:r>
            <a:r>
              <a:rPr lang="en-GB" sz="2000" b="1" dirty="0">
                <a:solidFill>
                  <a:srgbClr val="000000"/>
                </a:solidFill>
                <a:cs typeface="Arial" pitchFamily="34" charset="0"/>
              </a:rPr>
              <a:t>what</a:t>
            </a:r>
            <a:r>
              <a:rPr lang="en-GB" sz="2000" dirty="0">
                <a:solidFill>
                  <a:srgbClr val="000000"/>
                </a:solidFill>
                <a:cs typeface="Arial" pitchFamily="34" charset="0"/>
              </a:rPr>
              <a:t> business needs </a:t>
            </a:r>
            <a:r>
              <a:rPr lang="en-GB" sz="2000" b="1" dirty="0">
                <a:solidFill>
                  <a:srgbClr val="000000"/>
                </a:solidFill>
                <a:cs typeface="Arial" pitchFamily="34" charset="0"/>
              </a:rPr>
              <a:t>when</a:t>
            </a:r>
            <a:r>
              <a:rPr lang="en-GB" sz="2000" dirty="0">
                <a:solidFill>
                  <a:srgbClr val="000000"/>
                </a:solidFill>
                <a:cs typeface="Arial" pitchFamily="34" charset="0"/>
              </a:rPr>
              <a:t> it needs.</a:t>
            </a:r>
            <a:br>
              <a:rPr lang="en-GB" sz="2000" dirty="0">
                <a:solidFill>
                  <a:srgbClr val="000000"/>
                </a:solidFill>
                <a:cs typeface="Arial" pitchFamily="34" charset="0"/>
              </a:rPr>
            </a:br>
            <a:endParaRPr lang="en-GB" sz="2000" dirty="0">
              <a:solidFill>
                <a:srgbClr val="000000"/>
              </a:solidFill>
              <a:cs typeface="Arial" pitchFamily="34" charset="0"/>
            </a:endParaRPr>
          </a:p>
          <a:p>
            <a:pPr lvl="1" fontAlgn="t">
              <a:lnSpc>
                <a:spcPct val="90000"/>
              </a:lnSpc>
              <a:buFont typeface="Wingdings" pitchFamily="2" charset="2"/>
              <a:buChar char="§"/>
              <a:defRPr/>
            </a:pPr>
            <a:r>
              <a:rPr lang="en-GB" sz="2000" dirty="0">
                <a:solidFill>
                  <a:srgbClr val="C00000"/>
                </a:solidFill>
                <a:cs typeface="Arial" pitchFamily="34" charset="0"/>
              </a:rPr>
              <a:t>Achieved by using the various techniques in the framework and flexing requirements</a:t>
            </a:r>
          </a:p>
          <a:p>
            <a:pPr lvl="1" fontAlgn="t">
              <a:lnSpc>
                <a:spcPct val="90000"/>
              </a:lnSpc>
              <a:buFont typeface="Wingdings" pitchFamily="2" charset="2"/>
              <a:buChar char="§"/>
              <a:defRPr/>
            </a:pPr>
            <a:r>
              <a:rPr lang="en-GB" sz="2000" dirty="0">
                <a:solidFill>
                  <a:srgbClr val="C00000"/>
                </a:solidFill>
                <a:cs typeface="Arial" pitchFamily="34" charset="0"/>
              </a:rPr>
              <a:t>The aim is always to address the current and imminent needs of the business</a:t>
            </a:r>
            <a:br>
              <a:rPr lang="en-GB" sz="2000" dirty="0">
                <a:solidFill>
                  <a:srgbClr val="C00000"/>
                </a:solidFill>
                <a:cs typeface="Arial" pitchFamily="34" charset="0"/>
              </a:rPr>
            </a:br>
            <a:r>
              <a:rPr lang="en-GB" sz="2000" dirty="0">
                <a:solidFill>
                  <a:srgbClr val="C00000"/>
                </a:solidFill>
                <a:cs typeface="Arial" pitchFamily="34" charset="0"/>
              </a:rPr>
              <a:t> rather than to attack all the perceived possibilities</a:t>
            </a:r>
            <a:endParaRPr lang="en-GB" altLang="en-US" sz="2000" dirty="0">
              <a:latin typeface="+mj-lt"/>
            </a:endParaRPr>
          </a:p>
        </p:txBody>
      </p:sp>
      <p:sp>
        <p:nvSpPr>
          <p:cNvPr id="5" name="Slide Number Placeholder 3"/>
          <p:cNvSpPr txBox="1">
            <a:spLocks/>
          </p:cNvSpPr>
          <p:nvPr/>
        </p:nvSpPr>
        <p:spPr>
          <a:xfrm>
            <a:off x="11766177" y="605119"/>
            <a:ext cx="242047" cy="685800"/>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6" name="Content Placeholder 2"/>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411684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Traditional method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Rectangle 1028"/>
          <p:cNvSpPr>
            <a:spLocks noChangeArrowheads="1"/>
          </p:cNvSpPr>
          <p:nvPr/>
        </p:nvSpPr>
        <p:spPr bwMode="auto">
          <a:xfrm>
            <a:off x="2103347" y="2261326"/>
            <a:ext cx="698500" cy="24526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8" name="Line 1029"/>
          <p:cNvSpPr>
            <a:spLocks noChangeShapeType="1"/>
          </p:cNvSpPr>
          <p:nvPr/>
        </p:nvSpPr>
        <p:spPr bwMode="auto">
          <a:xfrm>
            <a:off x="1912847"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9" name="Line 1030"/>
          <p:cNvSpPr>
            <a:spLocks noChangeShapeType="1"/>
          </p:cNvSpPr>
          <p:nvPr/>
        </p:nvSpPr>
        <p:spPr bwMode="auto">
          <a:xfrm>
            <a:off x="1912847"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0" name="Text Box 1031"/>
          <p:cNvSpPr txBox="1">
            <a:spLocks noChangeArrowheads="1"/>
          </p:cNvSpPr>
          <p:nvPr/>
        </p:nvSpPr>
        <p:spPr bwMode="auto">
          <a:xfrm>
            <a:off x="1558834" y="4810851"/>
            <a:ext cx="25781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time to delivery</a:t>
            </a:r>
          </a:p>
          <a:p>
            <a:pPr algn="ctr" fontAlgn="auto">
              <a:spcBef>
                <a:spcPts val="0"/>
              </a:spcBef>
              <a:spcAft>
                <a:spcPts val="0"/>
              </a:spcAft>
              <a:defRPr/>
            </a:pPr>
            <a:r>
              <a:rPr lang="en-GB" b="1" dirty="0">
                <a:latin typeface="+mj-lt"/>
                <a:cs typeface="+mn-cs"/>
              </a:rPr>
              <a:t>(in months)</a:t>
            </a:r>
          </a:p>
        </p:txBody>
      </p:sp>
      <p:sp>
        <p:nvSpPr>
          <p:cNvPr id="11" name="Text Box 1032"/>
          <p:cNvSpPr txBox="1">
            <a:spLocks noChangeArrowheads="1"/>
          </p:cNvSpPr>
          <p:nvPr/>
        </p:nvSpPr>
        <p:spPr bwMode="auto">
          <a:xfrm>
            <a:off x="3119347" y="3780564"/>
            <a:ext cx="488950" cy="366712"/>
          </a:xfrm>
          <a:prstGeom prst="rect">
            <a:avLst/>
          </a:prstGeom>
          <a:noFill/>
          <a:ln w="12700">
            <a:noFill/>
            <a:miter lim="800000"/>
            <a:headEnd/>
            <a:tailEnd/>
          </a:ln>
          <a:effectLst/>
        </p:spPr>
        <p:txBody>
          <a:bodyPr wrap="none">
            <a:spAutoFit/>
          </a:bodyPr>
          <a:lstStyle/>
          <a:p>
            <a:r>
              <a:rPr lang="en-GB" altLang="en-US" b="1" dirty="0">
                <a:latin typeface="Logica" charset="0"/>
              </a:rPr>
              <a:t>4-6</a:t>
            </a:r>
          </a:p>
        </p:txBody>
      </p:sp>
      <p:sp>
        <p:nvSpPr>
          <p:cNvPr id="12" name="Rectangle 1034"/>
          <p:cNvSpPr>
            <a:spLocks noChangeArrowheads="1"/>
          </p:cNvSpPr>
          <p:nvPr/>
        </p:nvSpPr>
        <p:spPr bwMode="auto">
          <a:xfrm>
            <a:off x="2992347" y="4271101"/>
            <a:ext cx="698500" cy="44291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13" name="Rectangle 1035"/>
          <p:cNvSpPr>
            <a:spLocks noChangeArrowheads="1"/>
          </p:cNvSpPr>
          <p:nvPr/>
        </p:nvSpPr>
        <p:spPr bwMode="auto">
          <a:xfrm>
            <a:off x="4959259" y="2188301"/>
            <a:ext cx="698500" cy="2525713"/>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14" name="Line 1036"/>
          <p:cNvSpPr>
            <a:spLocks noChangeShapeType="1"/>
          </p:cNvSpPr>
          <p:nvPr/>
        </p:nvSpPr>
        <p:spPr bwMode="auto">
          <a:xfrm>
            <a:off x="4768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15" name="Line 1037"/>
          <p:cNvSpPr>
            <a:spLocks noChangeShapeType="1"/>
          </p:cNvSpPr>
          <p:nvPr/>
        </p:nvSpPr>
        <p:spPr bwMode="auto">
          <a:xfrm>
            <a:off x="4768759" y="4714014"/>
            <a:ext cx="2349500" cy="0"/>
          </a:xfrm>
          <a:prstGeom prst="line">
            <a:avLst/>
          </a:prstGeom>
          <a:noFill/>
          <a:ln w="12700">
            <a:solidFill>
              <a:schemeClr val="tx1"/>
            </a:solidFill>
            <a:round/>
            <a:headEnd/>
            <a:tailEnd/>
          </a:ln>
          <a:effectLst/>
        </p:spPr>
        <p:txBody>
          <a:bodyPr wrap="none" anchor="ctr"/>
          <a:lstStyle/>
          <a:p>
            <a:endParaRPr lang="en-US"/>
          </a:p>
        </p:txBody>
      </p:sp>
      <p:sp>
        <p:nvSpPr>
          <p:cNvPr id="16" name="Text Box 1038"/>
          <p:cNvSpPr txBox="1">
            <a:spLocks noChangeArrowheads="1"/>
          </p:cNvSpPr>
          <p:nvPr/>
        </p:nvSpPr>
        <p:spPr bwMode="auto">
          <a:xfrm>
            <a:off x="4586379" y="4823914"/>
            <a:ext cx="27051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Average project team size</a:t>
            </a:r>
          </a:p>
        </p:txBody>
      </p:sp>
      <p:sp>
        <p:nvSpPr>
          <p:cNvPr id="17" name="Text Box 1039"/>
          <p:cNvSpPr txBox="1">
            <a:spLocks noChangeArrowheads="1"/>
          </p:cNvSpPr>
          <p:nvPr/>
        </p:nvSpPr>
        <p:spPr bwMode="auto">
          <a:xfrm>
            <a:off x="6080897" y="3089503"/>
            <a:ext cx="298450" cy="366712"/>
          </a:xfrm>
          <a:prstGeom prst="rect">
            <a:avLst/>
          </a:prstGeom>
          <a:noFill/>
          <a:ln w="12700">
            <a:noFill/>
            <a:miter lim="800000"/>
            <a:headEnd/>
            <a:tailEnd/>
          </a:ln>
          <a:effectLst/>
        </p:spPr>
        <p:txBody>
          <a:bodyPr wrap="none">
            <a:spAutoFit/>
          </a:bodyPr>
          <a:lstStyle/>
          <a:p>
            <a:r>
              <a:rPr lang="en-GB" altLang="en-US" b="1">
                <a:latin typeface="Logica" charset="0"/>
              </a:rPr>
              <a:t>5</a:t>
            </a:r>
          </a:p>
        </p:txBody>
      </p:sp>
      <p:sp>
        <p:nvSpPr>
          <p:cNvPr id="18" name="Text Box 1040"/>
          <p:cNvSpPr txBox="1">
            <a:spLocks noChangeArrowheads="1"/>
          </p:cNvSpPr>
          <p:nvPr/>
        </p:nvSpPr>
        <p:spPr bwMode="auto">
          <a:xfrm>
            <a:off x="5148172" y="1759676"/>
            <a:ext cx="412750" cy="366713"/>
          </a:xfrm>
          <a:prstGeom prst="rect">
            <a:avLst/>
          </a:prstGeom>
          <a:noFill/>
          <a:ln w="12700">
            <a:noFill/>
            <a:miter lim="800000"/>
            <a:headEnd/>
            <a:tailEnd/>
          </a:ln>
          <a:effectLst/>
        </p:spPr>
        <p:txBody>
          <a:bodyPr wrap="none">
            <a:spAutoFit/>
          </a:bodyPr>
          <a:lstStyle/>
          <a:p>
            <a:r>
              <a:rPr lang="en-GB" altLang="en-US" b="1" dirty="0">
                <a:latin typeface="Logica" charset="0"/>
              </a:rPr>
              <a:t>11</a:t>
            </a:r>
          </a:p>
        </p:txBody>
      </p:sp>
      <p:sp>
        <p:nvSpPr>
          <p:cNvPr id="19" name="Rectangle 1041"/>
          <p:cNvSpPr>
            <a:spLocks noChangeArrowheads="1"/>
          </p:cNvSpPr>
          <p:nvPr/>
        </p:nvSpPr>
        <p:spPr bwMode="auto">
          <a:xfrm>
            <a:off x="5848259" y="3553551"/>
            <a:ext cx="698500" cy="1160463"/>
          </a:xfrm>
          <a:prstGeom prst="rect">
            <a:avLst/>
          </a:prstGeom>
          <a:solidFill>
            <a:srgbClr val="FC0128"/>
          </a:solidFill>
          <a:ln w="12700">
            <a:solidFill>
              <a:srgbClr val="FF0000"/>
            </a:solidFill>
            <a:miter lim="800000"/>
            <a:headEnd/>
            <a:tailEnd/>
          </a:ln>
          <a:effectLst/>
        </p:spPr>
        <p:txBody>
          <a:bodyPr wrap="none" anchor="ctr"/>
          <a:lstStyle/>
          <a:p>
            <a:pPr eaLnBrk="1" hangingPunct="1"/>
            <a:endParaRPr lang="en-US" altLang="en-US"/>
          </a:p>
        </p:txBody>
      </p:sp>
      <p:sp>
        <p:nvSpPr>
          <p:cNvPr id="20" name="Rectangle 1042"/>
          <p:cNvSpPr>
            <a:spLocks noChangeArrowheads="1"/>
          </p:cNvSpPr>
          <p:nvPr/>
        </p:nvSpPr>
        <p:spPr bwMode="auto">
          <a:xfrm>
            <a:off x="7626259" y="2693126"/>
            <a:ext cx="696913" cy="2020888"/>
          </a:xfrm>
          <a:prstGeom prst="rect">
            <a:avLst/>
          </a:prstGeom>
          <a:solidFill>
            <a:srgbClr val="0004F9"/>
          </a:solidFill>
          <a:ln w="12700">
            <a:solidFill>
              <a:srgbClr val="0000FF"/>
            </a:solidFill>
            <a:miter lim="800000"/>
            <a:headEnd/>
            <a:tailEnd/>
          </a:ln>
          <a:effectLst/>
        </p:spPr>
        <p:txBody>
          <a:bodyPr wrap="none" anchor="ctr"/>
          <a:lstStyle/>
          <a:p>
            <a:pPr eaLnBrk="1" hangingPunct="1"/>
            <a:endParaRPr lang="en-US" altLang="en-US"/>
          </a:p>
        </p:txBody>
      </p:sp>
      <p:sp>
        <p:nvSpPr>
          <p:cNvPr id="21" name="Line 1043"/>
          <p:cNvSpPr>
            <a:spLocks noChangeShapeType="1"/>
          </p:cNvSpPr>
          <p:nvPr/>
        </p:nvSpPr>
        <p:spPr bwMode="auto">
          <a:xfrm>
            <a:off x="7435759" y="2045426"/>
            <a:ext cx="0" cy="2668588"/>
          </a:xfrm>
          <a:prstGeom prst="line">
            <a:avLst/>
          </a:prstGeom>
          <a:noFill/>
          <a:ln w="12700">
            <a:solidFill>
              <a:schemeClr val="tx1"/>
            </a:solidFill>
            <a:round/>
            <a:headEnd/>
            <a:tailEnd/>
          </a:ln>
          <a:effectLst/>
        </p:spPr>
        <p:txBody>
          <a:bodyPr wrap="none" anchor="ctr"/>
          <a:lstStyle/>
          <a:p>
            <a:endParaRPr lang="en-US"/>
          </a:p>
        </p:txBody>
      </p:sp>
      <p:sp>
        <p:nvSpPr>
          <p:cNvPr id="22" name="Text Box 1046"/>
          <p:cNvSpPr txBox="1">
            <a:spLocks noChangeArrowheads="1"/>
          </p:cNvSpPr>
          <p:nvPr/>
        </p:nvSpPr>
        <p:spPr bwMode="auto">
          <a:xfrm>
            <a:off x="7663633" y="224907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77%</a:t>
            </a:r>
          </a:p>
        </p:txBody>
      </p:sp>
      <p:sp>
        <p:nvSpPr>
          <p:cNvPr id="23" name="Text Box 1047"/>
          <p:cNvSpPr txBox="1">
            <a:spLocks noChangeArrowheads="1"/>
          </p:cNvSpPr>
          <p:nvPr/>
        </p:nvSpPr>
        <p:spPr bwMode="auto">
          <a:xfrm>
            <a:off x="8577172" y="1934029"/>
            <a:ext cx="641350" cy="366713"/>
          </a:xfrm>
          <a:prstGeom prst="rect">
            <a:avLst/>
          </a:prstGeom>
          <a:noFill/>
          <a:ln w="12700">
            <a:noFill/>
            <a:miter lim="800000"/>
            <a:headEnd/>
            <a:tailEnd/>
          </a:ln>
          <a:effectLst/>
        </p:spPr>
        <p:txBody>
          <a:bodyPr wrap="none">
            <a:spAutoFit/>
          </a:bodyPr>
          <a:lstStyle/>
          <a:p>
            <a:r>
              <a:rPr lang="en-GB" altLang="en-US" b="1" dirty="0">
                <a:latin typeface="Logica" charset="0"/>
              </a:rPr>
              <a:t>87%</a:t>
            </a:r>
          </a:p>
        </p:txBody>
      </p:sp>
      <p:sp>
        <p:nvSpPr>
          <p:cNvPr id="24" name="Rectangle 1048"/>
          <p:cNvSpPr>
            <a:spLocks noChangeArrowheads="1"/>
          </p:cNvSpPr>
          <p:nvPr/>
        </p:nvSpPr>
        <p:spPr bwMode="auto">
          <a:xfrm>
            <a:off x="8513672" y="2404201"/>
            <a:ext cx="698500" cy="2309813"/>
          </a:xfrm>
          <a:prstGeom prst="rect">
            <a:avLst/>
          </a:prstGeom>
          <a:solidFill>
            <a:srgbClr val="FF0000"/>
          </a:solidFill>
          <a:ln w="12700">
            <a:solidFill>
              <a:srgbClr val="FF0000"/>
            </a:solidFill>
            <a:miter lim="800000"/>
            <a:headEnd/>
            <a:tailEnd/>
          </a:ln>
          <a:effectLst/>
        </p:spPr>
        <p:txBody>
          <a:bodyPr wrap="none" anchor="ctr"/>
          <a:lstStyle/>
          <a:p>
            <a:pPr eaLnBrk="1" hangingPunct="1"/>
            <a:endParaRPr lang="en-US" altLang="en-US"/>
          </a:p>
        </p:txBody>
      </p:sp>
      <p:sp>
        <p:nvSpPr>
          <p:cNvPr id="25" name="Text Box 1049"/>
          <p:cNvSpPr txBox="1">
            <a:spLocks noChangeArrowheads="1"/>
          </p:cNvSpPr>
          <p:nvPr/>
        </p:nvSpPr>
        <p:spPr bwMode="auto">
          <a:xfrm>
            <a:off x="1757272" y="5993539"/>
            <a:ext cx="184150" cy="366712"/>
          </a:xfrm>
          <a:prstGeom prst="rect">
            <a:avLst/>
          </a:prstGeom>
          <a:noFill/>
          <a:ln w="12700">
            <a:noFill/>
            <a:miter lim="800000"/>
            <a:headEnd/>
            <a:tailEnd/>
          </a:ln>
          <a:effectLst/>
        </p:spPr>
        <p:txBody>
          <a:bodyPr>
            <a:spAutoFit/>
          </a:bodyPr>
          <a:lstStyle/>
          <a:p>
            <a:pPr>
              <a:spcBef>
                <a:spcPct val="50000"/>
              </a:spcBef>
            </a:pPr>
            <a:endParaRPr lang="en-US" altLang="en-US" b="1">
              <a:latin typeface="Logica" charset="0"/>
            </a:endParaRPr>
          </a:p>
        </p:txBody>
      </p:sp>
      <p:sp>
        <p:nvSpPr>
          <p:cNvPr id="26" name="Rectangle 1050"/>
          <p:cNvSpPr>
            <a:spLocks noChangeArrowheads="1"/>
          </p:cNvSpPr>
          <p:nvPr/>
        </p:nvSpPr>
        <p:spPr bwMode="auto">
          <a:xfrm>
            <a:off x="1849347" y="6064976"/>
            <a:ext cx="190500" cy="142875"/>
          </a:xfrm>
          <a:prstGeom prst="rect">
            <a:avLst/>
          </a:prstGeom>
          <a:solidFill>
            <a:srgbClr val="0004F9"/>
          </a:solidFill>
          <a:ln w="12700">
            <a:solidFill>
              <a:schemeClr val="tx1"/>
            </a:solidFill>
            <a:miter lim="800000"/>
            <a:headEnd/>
            <a:tailEnd/>
          </a:ln>
          <a:effectLst/>
        </p:spPr>
        <p:txBody>
          <a:bodyPr wrap="none" anchor="ctr"/>
          <a:lstStyle/>
          <a:p>
            <a:pPr eaLnBrk="1" hangingPunct="1"/>
            <a:endParaRPr lang="en-US" altLang="en-US"/>
          </a:p>
        </p:txBody>
      </p:sp>
      <p:sp>
        <p:nvSpPr>
          <p:cNvPr id="27" name="Rectangle 1051"/>
          <p:cNvSpPr>
            <a:spLocks noChangeArrowheads="1"/>
          </p:cNvSpPr>
          <p:nvPr/>
        </p:nvSpPr>
        <p:spPr bwMode="auto">
          <a:xfrm>
            <a:off x="1849347" y="6423751"/>
            <a:ext cx="190500" cy="144463"/>
          </a:xfrm>
          <a:prstGeom prst="rect">
            <a:avLst/>
          </a:prstGeom>
          <a:solidFill>
            <a:srgbClr val="FC0128"/>
          </a:solidFill>
          <a:ln w="12700">
            <a:solidFill>
              <a:schemeClr val="tx1"/>
            </a:solidFill>
            <a:miter lim="800000"/>
            <a:headEnd/>
            <a:tailEnd/>
          </a:ln>
          <a:effectLst/>
        </p:spPr>
        <p:txBody>
          <a:bodyPr wrap="none" anchor="ctr"/>
          <a:lstStyle/>
          <a:p>
            <a:pPr eaLnBrk="1" hangingPunct="1"/>
            <a:endParaRPr lang="en-US" altLang="en-US"/>
          </a:p>
        </p:txBody>
      </p:sp>
      <p:sp>
        <p:nvSpPr>
          <p:cNvPr id="28" name="Text Box 1052"/>
          <p:cNvSpPr txBox="1">
            <a:spLocks noChangeArrowheads="1"/>
          </p:cNvSpPr>
          <p:nvPr/>
        </p:nvSpPr>
        <p:spPr bwMode="auto">
          <a:xfrm>
            <a:off x="2230347" y="5993539"/>
            <a:ext cx="3427412"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traditional approaches</a:t>
            </a:r>
          </a:p>
        </p:txBody>
      </p:sp>
      <p:sp>
        <p:nvSpPr>
          <p:cNvPr id="29" name="Text Box 1053"/>
          <p:cNvSpPr txBox="1">
            <a:spLocks noChangeArrowheads="1"/>
          </p:cNvSpPr>
          <p:nvPr/>
        </p:nvSpPr>
        <p:spPr bwMode="auto">
          <a:xfrm>
            <a:off x="2230347" y="6352314"/>
            <a:ext cx="4506912"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auto">
              <a:spcBef>
                <a:spcPct val="50000"/>
              </a:spcBef>
              <a:spcAft>
                <a:spcPts val="0"/>
              </a:spcAft>
              <a:defRPr/>
            </a:pPr>
            <a:r>
              <a:rPr lang="en-GB" sz="1400" b="1">
                <a:latin typeface="+mj-lt"/>
                <a:cs typeface="+mn-cs"/>
              </a:rPr>
              <a:t>Using DSDM</a:t>
            </a:r>
          </a:p>
        </p:txBody>
      </p:sp>
      <p:sp>
        <p:nvSpPr>
          <p:cNvPr id="30" name="Text Box 1054"/>
          <p:cNvSpPr txBox="1">
            <a:spLocks noChangeArrowheads="1"/>
          </p:cNvSpPr>
          <p:nvPr/>
        </p:nvSpPr>
        <p:spPr bwMode="auto">
          <a:xfrm>
            <a:off x="4835434" y="6350726"/>
            <a:ext cx="4465638" cy="307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auto">
              <a:spcBef>
                <a:spcPct val="50000"/>
              </a:spcBef>
              <a:spcAft>
                <a:spcPts val="0"/>
              </a:spcAft>
              <a:defRPr/>
            </a:pPr>
            <a:r>
              <a:rPr lang="en-GB" sz="1200" b="1" dirty="0">
                <a:latin typeface="+mj-lt"/>
                <a:cs typeface="+mn-cs"/>
              </a:rPr>
              <a:t>Source: British Airways IM Department, Newcastle</a:t>
            </a:r>
            <a:r>
              <a:rPr lang="en-GB" sz="1400" b="1" dirty="0">
                <a:latin typeface="+mj-lt"/>
                <a:cs typeface="+mn-cs"/>
              </a:rPr>
              <a:t> </a:t>
            </a:r>
          </a:p>
        </p:txBody>
      </p:sp>
      <p:sp>
        <p:nvSpPr>
          <p:cNvPr id="31" name="Text Box 1045"/>
          <p:cNvSpPr txBox="1">
            <a:spLocks noChangeArrowheads="1"/>
          </p:cNvSpPr>
          <p:nvPr/>
        </p:nvSpPr>
        <p:spPr bwMode="auto">
          <a:xfrm>
            <a:off x="7469051" y="4771662"/>
            <a:ext cx="25654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GB" b="1" dirty="0">
                <a:latin typeface="+mj-lt"/>
                <a:cs typeface="+mn-cs"/>
              </a:rPr>
              <a:t>% of completed projects</a:t>
            </a:r>
          </a:p>
          <a:p>
            <a:pPr algn="ctr" fontAlgn="auto">
              <a:spcBef>
                <a:spcPts val="0"/>
              </a:spcBef>
              <a:spcAft>
                <a:spcPts val="0"/>
              </a:spcAft>
              <a:defRPr/>
            </a:pPr>
            <a:r>
              <a:rPr lang="en-GB" b="1" dirty="0">
                <a:latin typeface="+mj-lt"/>
                <a:cs typeface="+mn-cs"/>
              </a:rPr>
              <a:t>rated good to excellent</a:t>
            </a:r>
          </a:p>
        </p:txBody>
      </p:sp>
      <p:sp>
        <p:nvSpPr>
          <p:cNvPr id="32" name="Text Box 1033"/>
          <p:cNvSpPr txBox="1">
            <a:spLocks noChangeArrowheads="1"/>
          </p:cNvSpPr>
          <p:nvPr/>
        </p:nvSpPr>
        <p:spPr bwMode="auto">
          <a:xfrm>
            <a:off x="2075407" y="1869531"/>
            <a:ext cx="717550" cy="366713"/>
          </a:xfrm>
          <a:prstGeom prst="rect">
            <a:avLst/>
          </a:prstGeom>
          <a:noFill/>
          <a:ln w="12700">
            <a:noFill/>
            <a:miter lim="800000"/>
            <a:headEnd/>
            <a:tailEnd/>
          </a:ln>
          <a:effectLst/>
        </p:spPr>
        <p:txBody>
          <a:bodyPr wrap="none">
            <a:spAutoFit/>
          </a:bodyPr>
          <a:lstStyle/>
          <a:p>
            <a:r>
              <a:rPr lang="en-GB" altLang="en-US" b="1" dirty="0">
                <a:latin typeface="Logica" charset="0"/>
              </a:rPr>
              <a:t>18-24</a:t>
            </a:r>
          </a:p>
        </p:txBody>
      </p:sp>
      <p:sp>
        <p:nvSpPr>
          <p:cNvPr id="3" name="Content Placeholder 2">
            <a:extLst>
              <a:ext uri="{FF2B5EF4-FFF2-40B4-BE49-F238E27FC236}">
                <a16:creationId xmlns:a16="http://schemas.microsoft.com/office/drawing/2014/main" id="{56C9D793-61F3-84F3-0885-89498A8588CD}"/>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4073179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 view</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pic>
        <p:nvPicPr>
          <p:cNvPr id="3" name="Picture 2"/>
          <p:cNvPicPr>
            <a:picLocks noChangeAspect="1"/>
          </p:cNvPicPr>
          <p:nvPr/>
        </p:nvPicPr>
        <p:blipFill>
          <a:blip r:embed="rId2"/>
          <a:stretch>
            <a:fillRect/>
          </a:stretch>
        </p:blipFill>
        <p:spPr>
          <a:xfrm>
            <a:off x="1113182" y="1974574"/>
            <a:ext cx="9872870" cy="4598504"/>
          </a:xfrm>
          <a:prstGeom prst="rect">
            <a:avLst/>
          </a:prstGeom>
        </p:spPr>
      </p:pic>
      <p:sp>
        <p:nvSpPr>
          <p:cNvPr id="4" name="Content Placeholder 2">
            <a:extLst>
              <a:ext uri="{FF2B5EF4-FFF2-40B4-BE49-F238E27FC236}">
                <a16:creationId xmlns:a16="http://schemas.microsoft.com/office/drawing/2014/main" id="{C43567CB-0699-8BD9-91C0-45D34AD05363}"/>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974126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nvGraphicFramePr>
        <p:xfrm>
          <a:off x="470263" y="1998618"/>
          <a:ext cx="11247119" cy="4410990"/>
        </p:xfrm>
        <a:graphic>
          <a:graphicData uri="http://schemas.openxmlformats.org/drawingml/2006/table">
            <a:tbl>
              <a:tblPr/>
              <a:tblGrid>
                <a:gridCol w="1154322">
                  <a:extLst>
                    <a:ext uri="{9D8B030D-6E8A-4147-A177-3AD203B41FA5}">
                      <a16:colId xmlns:a16="http://schemas.microsoft.com/office/drawing/2014/main" val="20000"/>
                    </a:ext>
                  </a:extLst>
                </a:gridCol>
                <a:gridCol w="1445186">
                  <a:extLst>
                    <a:ext uri="{9D8B030D-6E8A-4147-A177-3AD203B41FA5}">
                      <a16:colId xmlns:a16="http://schemas.microsoft.com/office/drawing/2014/main" val="20001"/>
                    </a:ext>
                  </a:extLst>
                </a:gridCol>
                <a:gridCol w="8647611">
                  <a:extLst>
                    <a:ext uri="{9D8B030D-6E8A-4147-A177-3AD203B41FA5}">
                      <a16:colId xmlns:a16="http://schemas.microsoft.com/office/drawing/2014/main" val="20002"/>
                    </a:ext>
                  </a:extLst>
                </a:gridCol>
              </a:tblGrid>
              <a:tr h="363898">
                <a:tc>
                  <a:txBody>
                    <a:bodyPr/>
                    <a:lstStyle/>
                    <a:p>
                      <a:r>
                        <a:rPr lang="en-US" sz="2000" b="1" dirty="0">
                          <a:solidFill>
                            <a:schemeClr val="bg1">
                              <a:lumMod val="95000"/>
                            </a:schemeClr>
                          </a:solidFill>
                          <a:effectLst/>
                        </a:rPr>
                        <a:t>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775303">
                <a:tc rowSpan="2">
                  <a:txBody>
                    <a:bodyPr/>
                    <a:lstStyle/>
                    <a:p>
                      <a:r>
                        <a:rPr lang="en-US" sz="2000" b="1" dirty="0">
                          <a:effectLst/>
                        </a:rPr>
                        <a:t>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effectLst/>
                        </a:rPr>
                        <a:t>Feasibility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rPr>
                        <a:t>Stage where the suitability of </a:t>
                      </a:r>
                      <a:r>
                        <a:rPr lang="en-US" sz="2000" dirty="0" err="1">
                          <a:solidFill>
                            <a:srgbClr val="FF0000"/>
                          </a:solidFill>
                          <a:effectLst/>
                        </a:rPr>
                        <a:t>DSDM</a:t>
                      </a:r>
                      <a:r>
                        <a:rPr lang="en-US" sz="2000" dirty="0">
                          <a:solidFill>
                            <a:srgbClr val="FF0000"/>
                          </a:solidFill>
                          <a:effectLst/>
                        </a:rPr>
                        <a:t> is assessed</a:t>
                      </a:r>
                      <a:r>
                        <a:rPr lang="en-US" sz="2000" dirty="0">
                          <a:effectLst/>
                        </a:rPr>
                        <a:t>. Judging by the type of project, organizational and people issues, the decision is made, whether to use </a:t>
                      </a:r>
                      <a:r>
                        <a:rPr lang="en-US" sz="2000" dirty="0" err="1">
                          <a:effectLst/>
                        </a:rPr>
                        <a:t>DSDM</a:t>
                      </a:r>
                      <a:r>
                        <a:rPr lang="en-US" sz="2000" dirty="0">
                          <a:effectLst/>
                        </a:rPr>
                        <a:t> or not. Therefore it will generate a FEASIBILITY REPORT, a FEASIBILITY PROTOTYPE, and a GLOBAL OUTLINE PLAN which includes a DEVELOPMENT PLAN and a RISK LOG.</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71789">
                <a:tc vMerge="1">
                  <a:txBody>
                    <a:bodyPr/>
                    <a:lstStyle/>
                    <a:p>
                      <a:endParaRPr lang="en-US" sz="2000" dirty="0">
                        <a:effectLst/>
                      </a:endParaRPr>
                    </a:p>
                  </a:txBody>
                  <a:tcPr marL="23082" marR="23082" marT="23082" marB="23082"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US" sz="2000" b="1" dirty="0">
                          <a:effectLst/>
                        </a:rPr>
                        <a:t>Business Study</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solidFill>
                            <a:srgbClr val="FF0000"/>
                          </a:solidFill>
                          <a:effectLst/>
                        </a:rPr>
                        <a:t>Stage where the essential characteristics of business and technology are analyzed</a:t>
                      </a:r>
                      <a:r>
                        <a:rPr lang="en-US" sz="2000" dirty="0">
                          <a:effectLst/>
                        </a:rPr>
                        <a:t>. Approach to organize workshops, where a sufficient number of the customer’s experts are gathered to be able to consider all relevant facts of the system, and to be able to agree on development priorities. In this stage, a PRIORITIZED REQUIREMENTS LIST, a BUSINESS AREA DEFINITION, a SYSTEM ARCHITECTURE DEFINITION, and an OUTLINE PROTOTYPING PLAN are developed.</a:t>
                      </a:r>
                    </a:p>
                  </a:txBody>
                  <a:tcPr marL="23082" marR="23082" marT="23083" marB="230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Content Placeholder 2">
            <a:extLst>
              <a:ext uri="{FF2B5EF4-FFF2-40B4-BE49-F238E27FC236}">
                <a16:creationId xmlns:a16="http://schemas.microsoft.com/office/drawing/2014/main" id="{25B60AA4-1D3E-7CBD-6E15-367700FBC9EA}"/>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10308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44137" y="1998616"/>
          <a:ext cx="11260183" cy="4467432"/>
        </p:xfrm>
        <a:graphic>
          <a:graphicData uri="http://schemas.openxmlformats.org/drawingml/2006/table">
            <a:tbl>
              <a:tblPr/>
              <a:tblGrid>
                <a:gridCol w="1343888">
                  <a:extLst>
                    <a:ext uri="{9D8B030D-6E8A-4147-A177-3AD203B41FA5}">
                      <a16:colId xmlns:a16="http://schemas.microsoft.com/office/drawing/2014/main" val="20000"/>
                    </a:ext>
                  </a:extLst>
                </a:gridCol>
                <a:gridCol w="1974078">
                  <a:extLst>
                    <a:ext uri="{9D8B030D-6E8A-4147-A177-3AD203B41FA5}">
                      <a16:colId xmlns:a16="http://schemas.microsoft.com/office/drawing/2014/main" val="20001"/>
                    </a:ext>
                  </a:extLst>
                </a:gridCol>
                <a:gridCol w="7942217">
                  <a:extLst>
                    <a:ext uri="{9D8B030D-6E8A-4147-A177-3AD203B41FA5}">
                      <a16:colId xmlns:a16="http://schemas.microsoft.com/office/drawing/2014/main" val="20002"/>
                    </a:ext>
                  </a:extLst>
                </a:gridCol>
              </a:tblGrid>
              <a:tr h="258733">
                <a:tc>
                  <a:txBody>
                    <a:bodyPr/>
                    <a:lstStyle/>
                    <a:p>
                      <a:r>
                        <a:rPr lang="en-US" sz="2000" b="1" dirty="0">
                          <a:solidFill>
                            <a:schemeClr val="bg1">
                              <a:lumMod val="95000"/>
                            </a:schemeClr>
                          </a:solidFill>
                          <a:effectLst/>
                        </a:rPr>
                        <a:t>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506436">
                <a:tc rowSpan="4">
                  <a:txBody>
                    <a:bodyPr/>
                    <a:lstStyle/>
                    <a:p>
                      <a:r>
                        <a:rPr lang="en-US" sz="2000" b="1" dirty="0">
                          <a:effectLst/>
                        </a:rPr>
                        <a:t>Functional Model Iteration</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Determine the functionalities to be implemented in the prototype that results from this iteration. In this sub-stage, a FUNCTIONAL MODEL is developed according to the deliverables result of business study stage.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8018">
                <a:tc vMerge="1">
                  <a:txBody>
                    <a:bodyPr/>
                    <a:lstStyle/>
                    <a:p>
                      <a:endParaRPr lang="en-US" dirty="0"/>
                    </a:p>
                  </a:txBody>
                  <a:tcPr/>
                </a:tc>
                <a:tc>
                  <a:txBody>
                    <a:bodyPr/>
                    <a:lstStyle/>
                    <a:p>
                      <a:r>
                        <a:rPr lang="en-US" sz="2000">
                          <a:effectLst/>
                        </a:rPr>
                        <a:t>Agree schedule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develop these functionalities.</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26751">
                <a:tc vMerge="1">
                  <a:txBody>
                    <a:bodyPr/>
                    <a:lstStyle/>
                    <a:p>
                      <a:endParaRPr lang="en-US"/>
                    </a:p>
                  </a:txBody>
                  <a:tcPr/>
                </a:tc>
                <a:tc>
                  <a:txBody>
                    <a:bodyPr/>
                    <a:lstStyle/>
                    <a:p>
                      <a:r>
                        <a:rPr lang="en-US" sz="2000">
                          <a:effectLst/>
                        </a:rPr>
                        <a:t>Create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Develop the FUNCTIONAL PROTOTYPE, according to the agreed schedule and FUNCTIONAL MODEL.</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215259">
                <a:tc vMerge="1">
                  <a:txBody>
                    <a:bodyPr/>
                    <a:lstStyle/>
                    <a:p>
                      <a:endParaRPr lang="en-US"/>
                    </a:p>
                  </a:txBody>
                  <a:tcPr/>
                </a:tc>
                <a:tc>
                  <a:txBody>
                    <a:bodyPr/>
                    <a:lstStyle/>
                    <a:p>
                      <a:r>
                        <a:rPr lang="en-US" sz="2000">
                          <a:effectLst/>
                        </a:rPr>
                        <a:t>Review functional prototype</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correctness of the developed prototype. This can be done via testing by end-user and/or reviewing documentation. The deliverable is a FUNCTIONAL PROTOTYPING REVIEW DOCUMENT.</a:t>
                      </a:r>
                    </a:p>
                  </a:txBody>
                  <a:tcPr marL="29776" marR="29776" marT="29778" marB="297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Content Placeholder 2">
            <a:extLst>
              <a:ext uri="{FF2B5EF4-FFF2-40B4-BE49-F238E27FC236}">
                <a16:creationId xmlns:a16="http://schemas.microsoft.com/office/drawing/2014/main" id="{7D089AEB-9324-E226-597D-61127104CD5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81749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812372039"/>
              </p:ext>
            </p:extLst>
          </p:nvPr>
        </p:nvGraphicFramePr>
        <p:xfrm>
          <a:off x="444138" y="1988496"/>
          <a:ext cx="11299372" cy="4771714"/>
        </p:xfrm>
        <a:graphic>
          <a:graphicData uri="http://schemas.openxmlformats.org/drawingml/2006/table">
            <a:tbl>
              <a:tblPr/>
              <a:tblGrid>
                <a:gridCol w="1584025">
                  <a:extLst>
                    <a:ext uri="{9D8B030D-6E8A-4147-A177-3AD203B41FA5}">
                      <a16:colId xmlns:a16="http://schemas.microsoft.com/office/drawing/2014/main" val="20000"/>
                    </a:ext>
                  </a:extLst>
                </a:gridCol>
                <a:gridCol w="1689626">
                  <a:extLst>
                    <a:ext uri="{9D8B030D-6E8A-4147-A177-3AD203B41FA5}">
                      <a16:colId xmlns:a16="http://schemas.microsoft.com/office/drawing/2014/main" val="20001"/>
                    </a:ext>
                  </a:extLst>
                </a:gridCol>
                <a:gridCol w="8025721">
                  <a:extLst>
                    <a:ext uri="{9D8B030D-6E8A-4147-A177-3AD203B41FA5}">
                      <a16:colId xmlns:a16="http://schemas.microsoft.com/office/drawing/2014/main" val="20002"/>
                    </a:ext>
                  </a:extLst>
                </a:gridCol>
              </a:tblGrid>
              <a:tr h="279887">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867504">
                <a:tc rowSpan="4">
                  <a:txBody>
                    <a:bodyPr/>
                    <a:lstStyle/>
                    <a:p>
                      <a:r>
                        <a:rPr lang="en-US" sz="2000" b="1" dirty="0">
                          <a:effectLst/>
                        </a:rPr>
                        <a:t>Design and Build Iteration</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Identify functional and </a:t>
                      </a:r>
                      <a:r>
                        <a:rPr lang="en-US" sz="2000" b="1" dirty="0">
                          <a:effectLst/>
                        </a:rPr>
                        <a:t>non-functiona</a:t>
                      </a:r>
                      <a:r>
                        <a:rPr lang="en-US" sz="2000" dirty="0">
                          <a:effectLst/>
                        </a:rPr>
                        <a:t>l requirements that need to be in the tested system. And based on these identifications, an IMPLEMENTATION STRATEGY is involved. If there is a TEST RECORD from the previous iteration, then it will be also used to determine the IMPLEMENTATION STRATEGY.</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3581">
                <a:tc vMerge="1">
                  <a:txBody>
                    <a:bodyPr/>
                    <a:lstStyle/>
                    <a:p>
                      <a:endParaRPr lang="en-US"/>
                    </a:p>
                  </a:txBody>
                  <a:tcPr/>
                </a:tc>
                <a:tc>
                  <a:txBody>
                    <a:bodyPr/>
                    <a:lstStyle/>
                    <a:p>
                      <a:r>
                        <a:rPr lang="en-US" sz="2000" dirty="0">
                          <a:effectLst/>
                        </a:rPr>
                        <a:t>Agree schedule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Agree on how and when to realize these requirements.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1081">
                <a:tc vMerge="1">
                  <a:txBody>
                    <a:bodyPr/>
                    <a:lstStyle/>
                    <a:p>
                      <a:endParaRPr lang="en-US"/>
                    </a:p>
                  </a:txBody>
                  <a:tcPr/>
                </a:tc>
                <a:tc>
                  <a:txBody>
                    <a:bodyPr/>
                    <a:lstStyle/>
                    <a:p>
                      <a:r>
                        <a:rPr lang="en-US" sz="2000" dirty="0">
                          <a:effectLst/>
                        </a:rPr>
                        <a:t>Create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Create a system (DESIGN PROTOTYPE) that can safely be handed to end-users for daily use, also for testing purposes.</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118580">
                <a:tc vMerge="1">
                  <a:txBody>
                    <a:bodyPr/>
                    <a:lstStyle/>
                    <a:p>
                      <a:endParaRPr lang="en-US"/>
                    </a:p>
                  </a:txBody>
                  <a:tcPr/>
                </a:tc>
                <a:tc>
                  <a:txBody>
                    <a:bodyPr/>
                    <a:lstStyle/>
                    <a:p>
                      <a:r>
                        <a:rPr lang="en-US" sz="2000">
                          <a:effectLst/>
                        </a:rPr>
                        <a:t>Review design prototype</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Check the correctness of the designed system. Again, testing and reviewing are the main techniques used. A USER DOCUMENTATION and a TEST RECORD will be developed.</a:t>
                      </a:r>
                    </a:p>
                  </a:txBody>
                  <a:tcPr marL="27678" marR="27678" marT="27680" marB="276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Content Placeholder 2">
            <a:extLst>
              <a:ext uri="{FF2B5EF4-FFF2-40B4-BE49-F238E27FC236}">
                <a16:creationId xmlns:a16="http://schemas.microsoft.com/office/drawing/2014/main" id="{82D69493-F153-4175-7D22-A3440757E724}"/>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140767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process</a:t>
            </a: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graphicFrame>
        <p:nvGraphicFramePr>
          <p:cNvPr id="6" name="Table 5"/>
          <p:cNvGraphicFramePr>
            <a:graphicFrameLocks noGrp="1"/>
          </p:cNvGraphicFramePr>
          <p:nvPr/>
        </p:nvGraphicFramePr>
        <p:xfrm>
          <a:off x="457200" y="1952484"/>
          <a:ext cx="11273246" cy="4770532"/>
        </p:xfrm>
        <a:graphic>
          <a:graphicData uri="http://schemas.openxmlformats.org/drawingml/2006/table">
            <a:tbl>
              <a:tblPr/>
              <a:tblGrid>
                <a:gridCol w="1551364">
                  <a:extLst>
                    <a:ext uri="{9D8B030D-6E8A-4147-A177-3AD203B41FA5}">
                      <a16:colId xmlns:a16="http://schemas.microsoft.com/office/drawing/2014/main" val="20000"/>
                    </a:ext>
                  </a:extLst>
                </a:gridCol>
                <a:gridCol w="1758213">
                  <a:extLst>
                    <a:ext uri="{9D8B030D-6E8A-4147-A177-3AD203B41FA5}">
                      <a16:colId xmlns:a16="http://schemas.microsoft.com/office/drawing/2014/main" val="20001"/>
                    </a:ext>
                  </a:extLst>
                </a:gridCol>
                <a:gridCol w="7963669">
                  <a:extLst>
                    <a:ext uri="{9D8B030D-6E8A-4147-A177-3AD203B41FA5}">
                      <a16:colId xmlns:a16="http://schemas.microsoft.com/office/drawing/2014/main" val="20002"/>
                    </a:ext>
                  </a:extLst>
                </a:gridCol>
              </a:tblGrid>
              <a:tr h="268628">
                <a:tc>
                  <a:txBody>
                    <a:bodyPr/>
                    <a:lstStyle/>
                    <a:p>
                      <a:r>
                        <a:rPr lang="en-US" sz="2000" b="1" dirty="0">
                          <a:solidFill>
                            <a:schemeClr val="bg1">
                              <a:lumMod val="95000"/>
                            </a:schemeClr>
                          </a:solidFill>
                          <a:effectLst/>
                        </a:rPr>
                        <a:t>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Sub activity</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r>
                        <a:rPr lang="en-US" sz="2000" b="1" dirty="0">
                          <a:solidFill>
                            <a:schemeClr val="bg1">
                              <a:lumMod val="95000"/>
                            </a:schemeClr>
                          </a:solidFill>
                          <a:effectLst/>
                        </a:rPr>
                        <a:t>Description</a:t>
                      </a:r>
                    </a:p>
                  </a:txBody>
                  <a:tcPr marL="23082" marR="23082" marT="23084" marB="23084" anchor="ctr">
                    <a:lnL>
                      <a:noFill/>
                    </a:lnL>
                    <a:lnR>
                      <a:noFill/>
                    </a:lnR>
                    <a:lnT>
                      <a:noFill/>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10000"/>
                  </a:ext>
                </a:extLst>
              </a:tr>
              <a:tr h="1068886">
                <a:tc rowSpan="4">
                  <a:txBody>
                    <a:bodyPr/>
                    <a:lstStyle/>
                    <a:p>
                      <a:r>
                        <a:rPr lang="en-US" sz="2000" b="1" dirty="0">
                          <a:effectLst/>
                        </a:rPr>
                        <a:t>Implementation</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User approval and guidelines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End users approve the tested system (APPROVAL) for implementation and guidelines with respect to the implementation and use of the system are created.</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12138">
                <a:tc vMerge="1">
                  <a:txBody>
                    <a:bodyPr/>
                    <a:lstStyle/>
                    <a:p>
                      <a:endParaRPr lang="en-US"/>
                    </a:p>
                  </a:txBody>
                  <a:tcPr/>
                </a:tc>
                <a:tc>
                  <a:txBody>
                    <a:bodyPr/>
                    <a:lstStyle/>
                    <a:p>
                      <a:r>
                        <a:rPr lang="en-US" sz="2000" dirty="0">
                          <a:effectLst/>
                        </a:rPr>
                        <a:t>Train users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Train future end user in the use of the system. TRAINED USER POPULATION is the deliverable of this sub-stage.</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1038">
                <a:tc vMerge="1">
                  <a:txBody>
                    <a:bodyPr/>
                    <a:lstStyle/>
                    <a:p>
                      <a:endParaRPr lang="en-US"/>
                    </a:p>
                  </a:txBody>
                  <a:tcPr/>
                </a:tc>
                <a:tc>
                  <a:txBody>
                    <a:bodyPr/>
                    <a:lstStyle/>
                    <a:p>
                      <a:r>
                        <a:rPr lang="en-US" sz="2000" dirty="0">
                          <a:effectLst/>
                        </a:rPr>
                        <a:t>Implement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Implement the tested system at the location of the end users, called as DELIVERED SYSTEM.</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63560">
                <a:tc vMerge="1">
                  <a:txBody>
                    <a:bodyPr/>
                    <a:lstStyle/>
                    <a:p>
                      <a:endParaRPr lang="en-US"/>
                    </a:p>
                  </a:txBody>
                  <a:tcPr/>
                </a:tc>
                <a:tc>
                  <a:txBody>
                    <a:bodyPr/>
                    <a:lstStyle/>
                    <a:p>
                      <a:r>
                        <a:rPr lang="en-US" sz="2000" dirty="0">
                          <a:effectLst/>
                        </a:rPr>
                        <a:t>Review business</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effectLst/>
                        </a:rPr>
                        <a:t>Review the impact of the implemented system on the business, a central issue will be whether the system meets the goals set at the beginning of the project. Depending on this the project goes to the next stage, the post-project or loops back to one of the preceding stages for further development. This review is will be documented in a PROJECT REVIEW DOCUMENT.</a:t>
                      </a:r>
                    </a:p>
                  </a:txBody>
                  <a:tcPr marL="25033" marR="25033" marT="25035" marB="250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Content Placeholder 2">
            <a:extLst>
              <a:ext uri="{FF2B5EF4-FFF2-40B4-BE49-F238E27FC236}">
                <a16:creationId xmlns:a16="http://schemas.microsoft.com/office/drawing/2014/main" id="{1C2C1916-0F63-95A5-28EB-468488CBF765}"/>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618548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 between Traditional development vs. </a:t>
            </a:r>
            <a:r>
              <a:rPr lang="en-GB" dirty="0" err="1"/>
              <a:t>dsdm</a:t>
            </a:r>
            <a:endParaRPr lang="en-GB" dirty="0"/>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7" name="AutoShape 4"/>
          <p:cNvSpPr>
            <a:spLocks noChangeArrowheads="1"/>
          </p:cNvSpPr>
          <p:nvPr/>
        </p:nvSpPr>
        <p:spPr bwMode="auto">
          <a:xfrm>
            <a:off x="1071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8" name="AutoShape 5"/>
          <p:cNvSpPr>
            <a:spLocks noChangeArrowheads="1"/>
          </p:cNvSpPr>
          <p:nvPr/>
        </p:nvSpPr>
        <p:spPr bwMode="auto">
          <a:xfrm rot="10800000">
            <a:off x="5262249" y="2709293"/>
            <a:ext cx="2438400" cy="2438400"/>
          </a:xfrm>
          <a:prstGeom prst="triangle">
            <a:avLst>
              <a:gd name="adj" fmla="val 50000"/>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9" name="Line 6"/>
          <p:cNvSpPr>
            <a:spLocks noChangeShapeType="1"/>
          </p:cNvSpPr>
          <p:nvPr/>
        </p:nvSpPr>
        <p:spPr bwMode="auto">
          <a:xfrm>
            <a:off x="3675301" y="5112768"/>
            <a:ext cx="27432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0" name="Line 7"/>
          <p:cNvSpPr>
            <a:spLocks noChangeShapeType="1"/>
          </p:cNvSpPr>
          <p:nvPr/>
        </p:nvSpPr>
        <p:spPr bwMode="auto">
          <a:xfrm flipH="1">
            <a:off x="2366649" y="2709293"/>
            <a:ext cx="28194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en-US">
              <a:latin typeface="+mj-lt"/>
              <a:cs typeface="+mn-cs"/>
            </a:endParaRPr>
          </a:p>
        </p:txBody>
      </p:sp>
      <p:sp>
        <p:nvSpPr>
          <p:cNvPr id="11" name="Text Box 8"/>
          <p:cNvSpPr txBox="1">
            <a:spLocks noChangeArrowheads="1"/>
          </p:cNvSpPr>
          <p:nvPr/>
        </p:nvSpPr>
        <p:spPr bwMode="auto">
          <a:xfrm>
            <a:off x="674374" y="51127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2" name="Text Box 9"/>
          <p:cNvSpPr txBox="1">
            <a:spLocks noChangeArrowheads="1"/>
          </p:cNvSpPr>
          <p:nvPr/>
        </p:nvSpPr>
        <p:spPr bwMode="auto">
          <a:xfrm>
            <a:off x="2900049" y="5147693"/>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3" name="Text Box 10"/>
          <p:cNvSpPr txBox="1">
            <a:spLocks noChangeArrowheads="1"/>
          </p:cNvSpPr>
          <p:nvPr/>
        </p:nvSpPr>
        <p:spPr bwMode="auto">
          <a:xfrm>
            <a:off x="5824224" y="5232624"/>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dirty="0">
                <a:latin typeface="+mj-lt"/>
                <a:cs typeface="+mn-cs"/>
              </a:rPr>
              <a:t>Functionality</a:t>
            </a:r>
          </a:p>
        </p:txBody>
      </p:sp>
      <p:sp>
        <p:nvSpPr>
          <p:cNvPr id="14" name="Text Box 11"/>
          <p:cNvSpPr txBox="1">
            <a:spLocks noChangeArrowheads="1"/>
          </p:cNvSpPr>
          <p:nvPr/>
        </p:nvSpPr>
        <p:spPr bwMode="auto">
          <a:xfrm>
            <a:off x="1360174" y="2217168"/>
            <a:ext cx="14033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Functionality</a:t>
            </a:r>
          </a:p>
        </p:txBody>
      </p:sp>
      <p:sp>
        <p:nvSpPr>
          <p:cNvPr id="15" name="Text Box 12"/>
          <p:cNvSpPr txBox="1">
            <a:spLocks noChangeArrowheads="1"/>
          </p:cNvSpPr>
          <p:nvPr/>
        </p:nvSpPr>
        <p:spPr bwMode="auto">
          <a:xfrm>
            <a:off x="4712974" y="2140968"/>
            <a:ext cx="6492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Time</a:t>
            </a:r>
          </a:p>
        </p:txBody>
      </p:sp>
      <p:sp>
        <p:nvSpPr>
          <p:cNvPr id="16" name="Text Box 13"/>
          <p:cNvSpPr txBox="1">
            <a:spLocks noChangeArrowheads="1"/>
          </p:cNvSpPr>
          <p:nvPr/>
        </p:nvSpPr>
        <p:spPr bwMode="auto">
          <a:xfrm>
            <a:off x="7227574" y="2217168"/>
            <a:ext cx="11334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a:latin typeface="+mj-lt"/>
                <a:cs typeface="+mn-cs"/>
              </a:rPr>
              <a:t>Resources</a:t>
            </a:r>
          </a:p>
        </p:txBody>
      </p:sp>
      <p:sp>
        <p:nvSpPr>
          <p:cNvPr id="17" name="Text Box 14"/>
          <p:cNvSpPr txBox="1">
            <a:spLocks noChangeArrowheads="1"/>
          </p:cNvSpPr>
          <p:nvPr/>
        </p:nvSpPr>
        <p:spPr bwMode="auto">
          <a:xfrm>
            <a:off x="4255774" y="4655568"/>
            <a:ext cx="6064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Vary</a:t>
            </a:r>
          </a:p>
        </p:txBody>
      </p:sp>
      <p:sp>
        <p:nvSpPr>
          <p:cNvPr id="18" name="Text Box 15"/>
          <p:cNvSpPr txBox="1">
            <a:spLocks noChangeArrowheads="1"/>
          </p:cNvSpPr>
          <p:nvPr/>
        </p:nvSpPr>
        <p:spPr bwMode="auto">
          <a:xfrm>
            <a:off x="3509649" y="2709293"/>
            <a:ext cx="6667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i="1">
                <a:latin typeface="+mj-lt"/>
                <a:cs typeface="+mn-cs"/>
              </a:rPr>
              <a:t>Fixed</a:t>
            </a:r>
          </a:p>
        </p:txBody>
      </p:sp>
      <p:sp>
        <p:nvSpPr>
          <p:cNvPr id="19" name="Text Box 16"/>
          <p:cNvSpPr txBox="1">
            <a:spLocks noChangeArrowheads="1"/>
          </p:cNvSpPr>
          <p:nvPr/>
        </p:nvSpPr>
        <p:spPr bwMode="auto">
          <a:xfrm>
            <a:off x="1685612" y="4471418"/>
            <a:ext cx="12096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a:latin typeface="+mj-lt"/>
                <a:cs typeface="+mn-cs"/>
              </a:rPr>
              <a:t>Traditional</a:t>
            </a:r>
          </a:p>
        </p:txBody>
      </p:sp>
      <p:sp>
        <p:nvSpPr>
          <p:cNvPr id="20" name="Text Box 17"/>
          <p:cNvSpPr txBox="1">
            <a:spLocks noChangeArrowheads="1"/>
          </p:cNvSpPr>
          <p:nvPr/>
        </p:nvSpPr>
        <p:spPr bwMode="auto">
          <a:xfrm>
            <a:off x="6087749" y="3014093"/>
            <a:ext cx="7874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GB" b="1" dirty="0" err="1">
                <a:latin typeface="+mj-lt"/>
                <a:cs typeface="+mn-cs"/>
              </a:rPr>
              <a:t>DSDM</a:t>
            </a:r>
            <a:endParaRPr lang="en-GB" b="1" dirty="0">
              <a:latin typeface="+mj-lt"/>
              <a:cs typeface="+mn-cs"/>
            </a:endParaRPr>
          </a:p>
        </p:txBody>
      </p:sp>
      <p:sp>
        <p:nvSpPr>
          <p:cNvPr id="21" name="Content Placeholder 2"/>
          <p:cNvSpPr>
            <a:spLocks noGrp="1"/>
          </p:cNvSpPr>
          <p:nvPr>
            <p:ph idx="1"/>
          </p:nvPr>
        </p:nvSpPr>
        <p:spPr>
          <a:xfrm>
            <a:off x="7700649" y="2894237"/>
            <a:ext cx="4083847" cy="3389673"/>
          </a:xfrm>
        </p:spPr>
        <p:txBody>
          <a:bodyPr>
            <a:noAutofit/>
          </a:bodyPr>
          <a:lstStyle/>
          <a:p>
            <a:pPr marL="0" indent="0">
              <a:buNone/>
            </a:pPr>
            <a:r>
              <a:rPr lang="en-GB" altLang="en-US" sz="2200" u="sng" dirty="0">
                <a:latin typeface="+mj-lt"/>
              </a:rPr>
              <a:t>Traditional Method</a:t>
            </a:r>
            <a:endParaRPr lang="en-GB" altLang="en-US" sz="2000" u="sng" dirty="0">
              <a:latin typeface="+mj-lt"/>
            </a:endParaRPr>
          </a:p>
          <a:p>
            <a:pPr>
              <a:buFont typeface="Wingdings" panose="05000000000000000000" pitchFamily="2" charset="2"/>
              <a:buChar char="§"/>
            </a:pPr>
            <a:r>
              <a:rPr lang="en-GB" altLang="en-US" sz="2000" dirty="0">
                <a:latin typeface="+mj-lt"/>
              </a:rPr>
              <a:t> Functional/requirements are fixed</a:t>
            </a:r>
          </a:p>
          <a:p>
            <a:pPr>
              <a:buFont typeface="Wingdings" panose="05000000000000000000" pitchFamily="2" charset="2"/>
              <a:buChar char="§"/>
            </a:pPr>
            <a:r>
              <a:rPr lang="en-GB" altLang="en-US" sz="2000" dirty="0">
                <a:latin typeface="+mj-lt"/>
              </a:rPr>
              <a:t> Time &amp; resources can vary</a:t>
            </a:r>
          </a:p>
          <a:p>
            <a:pPr>
              <a:buFont typeface="Wingdings" panose="05000000000000000000" pitchFamily="2" charset="2"/>
              <a:buChar char="§"/>
            </a:pPr>
            <a:endParaRPr lang="en-GB" altLang="en-US" sz="2000" dirty="0">
              <a:latin typeface="+mj-lt"/>
            </a:endParaRPr>
          </a:p>
          <a:p>
            <a:pPr marL="0" indent="0">
              <a:buNone/>
            </a:pPr>
            <a:r>
              <a:rPr lang="en-GB" altLang="en-US" sz="2000" u="sng" dirty="0">
                <a:latin typeface="+mj-lt"/>
              </a:rPr>
              <a:t>DSDM/Agile Methods</a:t>
            </a:r>
          </a:p>
          <a:p>
            <a:pPr>
              <a:buFont typeface="Wingdings" panose="05000000000000000000" pitchFamily="2" charset="2"/>
              <a:buChar char="§"/>
            </a:pPr>
            <a:r>
              <a:rPr lang="en-GB" altLang="en-US" sz="2000" dirty="0">
                <a:latin typeface="+mj-lt"/>
              </a:rPr>
              <a:t> </a:t>
            </a:r>
            <a:r>
              <a:rPr lang="en-GB" altLang="en-US" sz="2000" dirty="0"/>
              <a:t>Functional/requirement varies</a:t>
            </a:r>
            <a:endParaRPr lang="en-GB" altLang="en-US" sz="2000" dirty="0">
              <a:latin typeface="+mj-lt"/>
            </a:endParaRPr>
          </a:p>
          <a:p>
            <a:pPr>
              <a:buFont typeface="Wingdings" panose="05000000000000000000" pitchFamily="2" charset="2"/>
              <a:buChar char="§"/>
            </a:pPr>
            <a:r>
              <a:rPr lang="en-GB" altLang="en-US" sz="2000" dirty="0">
                <a:latin typeface="+mj-lt"/>
              </a:rPr>
              <a:t>Time &amp; resources are fixed</a:t>
            </a:r>
            <a:endParaRPr lang="en-GB" sz="2200" dirty="0">
              <a:latin typeface="+mj-lt"/>
            </a:endParaRPr>
          </a:p>
        </p:txBody>
      </p:sp>
      <p:sp>
        <p:nvSpPr>
          <p:cNvPr id="3" name="Content Placeholder 2">
            <a:extLst>
              <a:ext uri="{FF2B5EF4-FFF2-40B4-BE49-F238E27FC236}">
                <a16:creationId xmlns:a16="http://schemas.microsoft.com/office/drawing/2014/main" id="{1BC0CCA6-5C04-373B-ED56-5118EC20D91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995630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Techniques to consider in </a:t>
            </a:r>
            <a:r>
              <a:rPr lang="en-GB" dirty="0" err="1"/>
              <a:t>dsdm</a:t>
            </a:r>
            <a:endParaRPr lang="en-GB" dirty="0"/>
          </a:p>
        </p:txBody>
      </p:sp>
      <p:sp>
        <p:nvSpPr>
          <p:cNvPr id="3" name="Content Placeholder 2"/>
          <p:cNvSpPr>
            <a:spLocks noGrp="1"/>
          </p:cNvSpPr>
          <p:nvPr>
            <p:ph idx="1"/>
          </p:nvPr>
        </p:nvSpPr>
        <p:spPr>
          <a:xfrm>
            <a:off x="692334" y="2142310"/>
            <a:ext cx="10371908" cy="2808513"/>
          </a:xfrm>
        </p:spPr>
        <p:txBody>
          <a:bodyPr>
            <a:noAutofit/>
          </a:bodyPr>
          <a:lstStyle/>
          <a:p>
            <a:pPr>
              <a:buFont typeface="Wingdings" pitchFamily="2" charset="2"/>
              <a:buChar char="q"/>
            </a:pPr>
            <a:r>
              <a:rPr lang="en-GB" altLang="en-US" sz="2200" dirty="0">
                <a:latin typeface="+mj-lt"/>
              </a:rPr>
              <a:t> Flexibility [80:20 Rule]</a:t>
            </a:r>
          </a:p>
          <a:p>
            <a:pPr>
              <a:buFont typeface="Wingdings" pitchFamily="2" charset="2"/>
              <a:buChar char="q"/>
            </a:pPr>
            <a:r>
              <a:rPr lang="en-GB" altLang="en-US" sz="2200" dirty="0">
                <a:latin typeface="+mj-lt"/>
              </a:rPr>
              <a:t> </a:t>
            </a:r>
            <a:r>
              <a:rPr lang="en-GB" altLang="en-US" sz="2200" dirty="0" err="1">
                <a:latin typeface="+mj-lt"/>
              </a:rPr>
              <a:t>Timeboxing</a:t>
            </a:r>
            <a:endParaRPr lang="en-GB" altLang="en-US" sz="2200" dirty="0">
              <a:latin typeface="+mj-lt"/>
            </a:endParaRPr>
          </a:p>
          <a:p>
            <a:pPr>
              <a:buFont typeface="Wingdings" pitchFamily="2" charset="2"/>
              <a:buChar char="q"/>
            </a:pPr>
            <a:r>
              <a:rPr lang="en-GB" altLang="en-US" sz="2200" dirty="0">
                <a:latin typeface="+mj-lt"/>
              </a:rPr>
              <a:t> </a:t>
            </a:r>
            <a:r>
              <a:rPr lang="en-GB" altLang="en-US" sz="2200" dirty="0" err="1">
                <a:latin typeface="+mj-lt"/>
              </a:rPr>
              <a:t>MoSCoW</a:t>
            </a:r>
            <a:r>
              <a:rPr lang="en-GB" altLang="en-US" sz="2200" dirty="0">
                <a:latin typeface="+mj-lt"/>
              </a:rPr>
              <a:t> Rules</a:t>
            </a:r>
          </a:p>
          <a:p>
            <a:pPr>
              <a:buFont typeface="Wingdings" pitchFamily="2" charset="2"/>
              <a:buChar char="q"/>
            </a:pPr>
            <a:r>
              <a:rPr lang="en-GB" altLang="en-US" sz="2200" dirty="0">
                <a:latin typeface="+mj-lt"/>
              </a:rPr>
              <a:t> Prototyping</a:t>
            </a:r>
          </a:p>
          <a:p>
            <a:pPr>
              <a:buFont typeface="Wingdings" pitchFamily="2" charset="2"/>
              <a:buChar char="q"/>
            </a:pPr>
            <a:endParaRPr lang="en-GB" sz="22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F4DADD4A-AD1E-34C9-C8E0-10B72E21B928}"/>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1017917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flexibility</a:t>
            </a:r>
          </a:p>
        </p:txBody>
      </p:sp>
      <p:sp>
        <p:nvSpPr>
          <p:cNvPr id="3" name="Content Placeholder 2"/>
          <p:cNvSpPr>
            <a:spLocks noGrp="1"/>
          </p:cNvSpPr>
          <p:nvPr>
            <p:ph idx="1"/>
          </p:nvPr>
        </p:nvSpPr>
        <p:spPr>
          <a:xfrm>
            <a:off x="425823" y="1632857"/>
            <a:ext cx="11340354" cy="4062548"/>
          </a:xfrm>
        </p:spPr>
        <p:txBody>
          <a:bodyPr>
            <a:noAutofit/>
          </a:bodyPr>
          <a:lstStyle/>
          <a:p>
            <a:pPr>
              <a:buFont typeface="Wingdings" pitchFamily="2" charset="2"/>
              <a:buChar char="q"/>
            </a:pPr>
            <a:r>
              <a:rPr lang="en-GB" altLang="en-US" sz="2200" dirty="0">
                <a:latin typeface="+mj-lt"/>
              </a:rPr>
              <a:t> A fundamental assumption of DSDM is that </a:t>
            </a:r>
            <a:r>
              <a:rPr lang="en-GB" altLang="en-US" sz="2200" dirty="0">
                <a:solidFill>
                  <a:srgbClr val="C00000"/>
                </a:solidFill>
                <a:latin typeface="+mj-lt"/>
              </a:rPr>
              <a:t>nothing is built perfectly first time.</a:t>
            </a:r>
            <a:endParaRPr lang="en-GB" altLang="en-US" sz="2200" dirty="0">
              <a:latin typeface="+mj-lt"/>
            </a:endParaRPr>
          </a:p>
          <a:p>
            <a:pPr>
              <a:buFont typeface="Wingdings" pitchFamily="2" charset="2"/>
              <a:buChar char="q"/>
            </a:pPr>
            <a:r>
              <a:rPr lang="en-GB" altLang="en-US" sz="2200" dirty="0">
                <a:latin typeface="+mj-lt"/>
              </a:rPr>
              <a:t> </a:t>
            </a:r>
            <a:r>
              <a:rPr lang="en-GB" altLang="en-US" sz="2200" dirty="0">
                <a:solidFill>
                  <a:srgbClr val="C00000"/>
                </a:solidFill>
                <a:latin typeface="+mj-lt"/>
              </a:rPr>
              <a:t>80:20 Rule:  </a:t>
            </a:r>
            <a:r>
              <a:rPr lang="en-US" altLang="en-US" sz="2200" dirty="0">
                <a:latin typeface="+mj-lt"/>
              </a:rPr>
              <a:t>The 80/20 rule says that you can get 80% of the value from a project by focusing on the 20% of needs that are the most important.</a:t>
            </a:r>
            <a:r>
              <a:rPr lang="en-GB" altLang="en-US" sz="2200" dirty="0">
                <a:latin typeface="+mj-lt"/>
              </a:rPr>
              <a:t> </a:t>
            </a:r>
          </a:p>
          <a:p>
            <a:pPr marL="0" indent="0">
              <a:buNone/>
            </a:pPr>
            <a:r>
              <a:rPr lang="en-GB" altLang="en-US" sz="2200" dirty="0">
                <a:latin typeface="+mj-lt"/>
              </a:rPr>
              <a:t>DSDM assumes that all previous steps can be revisited as part of its iterative approach.  </a:t>
            </a:r>
          </a:p>
          <a:p>
            <a:pPr marL="0" indent="0">
              <a:buNone/>
            </a:pPr>
            <a:r>
              <a:rPr lang="en-GB" altLang="en-US" sz="2200" dirty="0">
                <a:latin typeface="+mj-lt"/>
              </a:rPr>
              <a:t>Therefore, </a:t>
            </a:r>
            <a:r>
              <a:rPr lang="en-GB" altLang="en-US" sz="2200" dirty="0">
                <a:solidFill>
                  <a:srgbClr val="C00000"/>
                </a:solidFill>
                <a:latin typeface="+mj-lt"/>
              </a:rPr>
              <a:t>the current step need be completed only enough to move to the next step, </a:t>
            </a:r>
            <a:r>
              <a:rPr lang="en-GB" altLang="en-US" sz="2200" dirty="0">
                <a:latin typeface="+mj-lt"/>
              </a:rPr>
              <a:t>since it can be finished in a later iteration. </a:t>
            </a:r>
            <a:endParaRPr lang="en-GB" altLang="en-US" sz="22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3B706A58-0290-2651-B5D2-49976DF7F877}"/>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717296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a:t>
            </a:r>
            <a:r>
              <a:rPr lang="en-GB" dirty="0" err="1"/>
              <a:t>timeboxing</a:t>
            </a:r>
            <a:endParaRPr lang="en-GB" dirty="0"/>
          </a:p>
        </p:txBody>
      </p:sp>
      <p:sp>
        <p:nvSpPr>
          <p:cNvPr id="3" name="Content Placeholder 2"/>
          <p:cNvSpPr>
            <a:spLocks noGrp="1"/>
          </p:cNvSpPr>
          <p:nvPr>
            <p:ph idx="1"/>
          </p:nvPr>
        </p:nvSpPr>
        <p:spPr>
          <a:xfrm>
            <a:off x="440682" y="1907176"/>
            <a:ext cx="11325495" cy="4767943"/>
          </a:xfrm>
        </p:spPr>
        <p:txBody>
          <a:bodyPr>
            <a:noAutofit/>
          </a:bodyPr>
          <a:lstStyle/>
          <a:p>
            <a:pPr>
              <a:buFont typeface="Wingdings" pitchFamily="2" charset="2"/>
              <a:buChar char="q"/>
            </a:pPr>
            <a:r>
              <a:rPr lang="en-GB" altLang="en-US" sz="2200" dirty="0">
                <a:latin typeface="+mj-lt"/>
              </a:rPr>
              <a:t> </a:t>
            </a:r>
            <a:r>
              <a:rPr lang="en-GB" altLang="en-US" sz="2000" dirty="0">
                <a:latin typeface="+mj-lt"/>
              </a:rPr>
              <a:t>Without effective </a:t>
            </a:r>
            <a:r>
              <a:rPr lang="en-GB" altLang="en-US" sz="2000" dirty="0" err="1">
                <a:latin typeface="+mj-lt"/>
              </a:rPr>
              <a:t>timeboxing</a:t>
            </a:r>
            <a:r>
              <a:rPr lang="en-GB" altLang="en-US" sz="2000" dirty="0">
                <a:latin typeface="+mj-lt"/>
              </a:rPr>
              <a:t>,  prototyping teams can lose their focus and run out of control. </a:t>
            </a:r>
          </a:p>
          <a:p>
            <a:pPr>
              <a:buFont typeface="Wingdings" pitchFamily="2" charset="2"/>
              <a:buChar char="q"/>
            </a:pPr>
            <a:r>
              <a:rPr lang="en-GB" altLang="en-US" sz="2000" dirty="0">
                <a:latin typeface="+mj-lt"/>
              </a:rPr>
              <a:t> </a:t>
            </a:r>
            <a:r>
              <a:rPr lang="en-GB" altLang="en-US" sz="2000" dirty="0" err="1">
                <a:latin typeface="+mj-lt"/>
              </a:rPr>
              <a:t>Timeboxing</a:t>
            </a:r>
            <a:r>
              <a:rPr lang="en-GB" altLang="en-US" sz="2000" dirty="0">
                <a:latin typeface="+mj-lt"/>
              </a:rPr>
              <a:t> works by concentrating on when a </a:t>
            </a:r>
            <a:r>
              <a:rPr lang="en-GB" altLang="en-US" sz="2000" dirty="0">
                <a:solidFill>
                  <a:srgbClr val="C00000"/>
                </a:solidFill>
                <a:latin typeface="+mj-lt"/>
              </a:rPr>
              <a:t>business objective </a:t>
            </a:r>
            <a:r>
              <a:rPr lang="en-GB" altLang="en-US" sz="2000" dirty="0">
                <a:latin typeface="+mj-lt"/>
              </a:rPr>
              <a:t>will be met as opposed </a:t>
            </a:r>
            <a:br>
              <a:rPr lang="en-GB" altLang="en-US" sz="2000" dirty="0">
                <a:latin typeface="+mj-lt"/>
              </a:rPr>
            </a:br>
            <a:r>
              <a:rPr lang="en-GB" altLang="en-US" sz="2000" dirty="0">
                <a:latin typeface="+mj-lt"/>
              </a:rPr>
              <a:t> to the tasks which contribute to its delivery. </a:t>
            </a:r>
          </a:p>
          <a:p>
            <a:pPr>
              <a:buFont typeface="Wingdings" pitchFamily="2" charset="2"/>
              <a:buChar char="q"/>
            </a:pPr>
            <a:r>
              <a:rPr lang="en-GB" altLang="en-US" sz="2000" b="1" dirty="0" err="1"/>
              <a:t>Timeboxing</a:t>
            </a:r>
            <a:r>
              <a:rPr lang="en-GB" altLang="en-US" sz="2000" b="1" dirty="0"/>
              <a:t> Basics</a:t>
            </a:r>
          </a:p>
          <a:p>
            <a:pPr lvl="1">
              <a:buFont typeface="Wingdings" pitchFamily="2" charset="2"/>
              <a:buChar char="§"/>
            </a:pPr>
            <a:r>
              <a:rPr lang="en-GB" altLang="en-US" sz="2000" dirty="0"/>
              <a:t>Time between start and end of an activity</a:t>
            </a:r>
          </a:p>
          <a:p>
            <a:pPr lvl="1">
              <a:buFont typeface="Wingdings" pitchFamily="2" charset="2"/>
              <a:buChar char="§"/>
            </a:pPr>
            <a:r>
              <a:rPr lang="en-GB" altLang="en-US" sz="2000" dirty="0"/>
              <a:t>DSDM uses </a:t>
            </a:r>
            <a:r>
              <a:rPr lang="en-GB" altLang="en-US" sz="2000" dirty="0">
                <a:solidFill>
                  <a:srgbClr val="C00000"/>
                </a:solidFill>
              </a:rPr>
              <a:t>nested </a:t>
            </a:r>
            <a:r>
              <a:rPr lang="en-GB" altLang="en-US" sz="2000" dirty="0" err="1">
                <a:solidFill>
                  <a:srgbClr val="C00000"/>
                </a:solidFill>
              </a:rPr>
              <a:t>timeboxes</a:t>
            </a:r>
            <a:r>
              <a:rPr lang="en-GB" altLang="en-US" sz="2000" dirty="0"/>
              <a:t>, giving a series of fixed deadlines</a:t>
            </a:r>
          </a:p>
          <a:p>
            <a:pPr lvl="1">
              <a:buFont typeface="Wingdings" pitchFamily="2" charset="2"/>
              <a:buChar char="§"/>
            </a:pPr>
            <a:r>
              <a:rPr lang="en-GB" altLang="en-US" sz="2000" dirty="0"/>
              <a:t>Ideally </a:t>
            </a:r>
            <a:r>
              <a:rPr lang="en-GB" altLang="en-US" sz="2000" b="1" dirty="0"/>
              <a:t>2 - 4 weeks </a:t>
            </a:r>
            <a:r>
              <a:rPr lang="en-GB" altLang="en-US" sz="2000" dirty="0"/>
              <a:t>in length</a:t>
            </a:r>
          </a:p>
          <a:p>
            <a:pPr lvl="1">
              <a:buFont typeface="Wingdings" pitchFamily="2" charset="2"/>
              <a:buChar char="§"/>
            </a:pPr>
            <a:r>
              <a:rPr lang="en-GB" altLang="en-US" sz="2000" dirty="0"/>
              <a:t>Objective is to have easiest 80% produced in each </a:t>
            </a:r>
            <a:r>
              <a:rPr lang="en-GB" altLang="en-US" sz="2000" dirty="0" err="1"/>
              <a:t>timebox</a:t>
            </a:r>
            <a:endParaRPr lang="en-GB" altLang="en-US" sz="2000" dirty="0"/>
          </a:p>
          <a:p>
            <a:pPr lvl="1">
              <a:buFont typeface="Wingdings" pitchFamily="2" charset="2"/>
              <a:buChar char="§"/>
            </a:pPr>
            <a:r>
              <a:rPr lang="en-GB" altLang="en-US" sz="2000" dirty="0"/>
              <a:t>Remaining 20% potentially carried forward subsequent </a:t>
            </a:r>
            <a:r>
              <a:rPr lang="en-GB" altLang="en-US" sz="2000" dirty="0" err="1"/>
              <a:t>timeboxes</a:t>
            </a:r>
            <a:endParaRPr lang="en-GB" altLang="en-US" sz="2000" dirty="0"/>
          </a:p>
          <a:p>
            <a:pPr lvl="1">
              <a:buFont typeface="Wingdings" pitchFamily="2" charset="2"/>
              <a:buChar char="§"/>
            </a:pPr>
            <a:r>
              <a:rPr lang="en-GB" altLang="en-US" sz="2000" dirty="0"/>
              <a:t>Focus on the essentials</a:t>
            </a:r>
          </a:p>
          <a:p>
            <a:pPr lvl="1">
              <a:buFont typeface="Wingdings" pitchFamily="2" charset="2"/>
              <a:buChar char="§"/>
            </a:pPr>
            <a:r>
              <a:rPr lang="en-GB" altLang="en-US" sz="2000" dirty="0"/>
              <a:t>Helps in estimating and providing resources</a:t>
            </a:r>
            <a:endParaRPr lang="en-GB" altLang="en-US" sz="2000" dirty="0">
              <a:latin typeface="18"/>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19C1CA7D-4277-325E-00AB-E00A0EB7280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2798595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507" y="499599"/>
            <a:ext cx="11029616" cy="1013800"/>
          </a:xfrm>
        </p:spPr>
        <p:txBody>
          <a:bodyPr/>
          <a:lstStyle/>
          <a:p>
            <a:r>
              <a:rPr lang="en-GB" dirty="0" err="1"/>
              <a:t>Dsdm</a:t>
            </a:r>
            <a:r>
              <a:rPr lang="en-GB" dirty="0"/>
              <a:t> Techniques:  Moscow rules</a:t>
            </a:r>
          </a:p>
        </p:txBody>
      </p:sp>
      <p:sp>
        <p:nvSpPr>
          <p:cNvPr id="3" name="Content Placeholder 2"/>
          <p:cNvSpPr>
            <a:spLocks noGrp="1"/>
          </p:cNvSpPr>
          <p:nvPr>
            <p:ph idx="1"/>
          </p:nvPr>
        </p:nvSpPr>
        <p:spPr>
          <a:xfrm>
            <a:off x="205347" y="1209056"/>
            <a:ext cx="11483146" cy="3025862"/>
          </a:xfrm>
        </p:spPr>
        <p:txBody>
          <a:bodyPr>
            <a:noAutofit/>
          </a:bodyPr>
          <a:lstStyle/>
          <a:p>
            <a:pPr>
              <a:spcAft>
                <a:spcPts val="0"/>
              </a:spcAft>
              <a:buFont typeface="Wingdings" pitchFamily="2" charset="2"/>
              <a:buChar char="q"/>
              <a:defRPr/>
            </a:pPr>
            <a:r>
              <a:rPr lang="en-GB" altLang="en-US" sz="1700" b="1" dirty="0">
                <a:latin typeface="+mj-lt"/>
              </a:rPr>
              <a:t> </a:t>
            </a:r>
            <a:r>
              <a:rPr lang="en-GB" altLang="en-US" sz="1700" b="1" dirty="0" err="1">
                <a:solidFill>
                  <a:srgbClr val="C00000"/>
                </a:solidFill>
                <a:latin typeface="+mj-lt"/>
              </a:rPr>
              <a:t>MoSCoW</a:t>
            </a:r>
            <a:r>
              <a:rPr lang="en-GB" altLang="en-US" sz="1700" dirty="0">
                <a:latin typeface="+mj-lt"/>
              </a:rPr>
              <a:t> rules </a:t>
            </a:r>
            <a:r>
              <a:rPr kumimoji="1" lang="en-GB" sz="1700" dirty="0">
                <a:latin typeface="+mj-lt"/>
              </a:rPr>
              <a:t>formalised in DSDM version 3</a:t>
            </a:r>
          </a:p>
          <a:p>
            <a:pPr>
              <a:spcAft>
                <a:spcPts val="0"/>
              </a:spcAft>
              <a:buNone/>
              <a:defRPr/>
            </a:pPr>
            <a:r>
              <a:rPr kumimoji="1" lang="en-GB" sz="1700" b="1" dirty="0">
                <a:solidFill>
                  <a:srgbClr val="990000"/>
                </a:solidFill>
                <a:latin typeface="+mj-lt"/>
              </a:rPr>
              <a:t>		M</a:t>
            </a:r>
            <a:r>
              <a:rPr kumimoji="1" lang="en-GB" sz="1700" b="1" dirty="0">
                <a:latin typeface="+mj-lt"/>
              </a:rPr>
              <a:t>ust have </a:t>
            </a:r>
            <a:r>
              <a:rPr kumimoji="1" lang="en-GB" sz="1700" dirty="0">
                <a:latin typeface="+mj-lt"/>
              </a:rPr>
              <a:t>– fundamental to project success</a:t>
            </a:r>
          </a:p>
          <a:p>
            <a:pPr>
              <a:spcAft>
                <a:spcPts val="0"/>
              </a:spcAft>
              <a:buNone/>
              <a:defRPr/>
            </a:pPr>
            <a:r>
              <a:rPr kumimoji="1" lang="en-GB" sz="1700" b="1" dirty="0">
                <a:solidFill>
                  <a:srgbClr val="990000"/>
                </a:solidFill>
                <a:latin typeface="+mj-lt"/>
              </a:rPr>
              <a:t>		S</a:t>
            </a:r>
            <a:r>
              <a:rPr kumimoji="1" lang="en-GB" sz="1700" b="1" dirty="0">
                <a:latin typeface="+mj-lt"/>
              </a:rPr>
              <a:t>hould have </a:t>
            </a:r>
            <a:r>
              <a:rPr kumimoji="1" lang="en-GB" sz="1700" dirty="0">
                <a:latin typeface="+mj-lt"/>
              </a:rPr>
              <a:t>– important but project does not rely on</a:t>
            </a:r>
          </a:p>
          <a:p>
            <a:pPr>
              <a:spcAft>
                <a:spcPts val="0"/>
              </a:spcAft>
              <a:buNone/>
              <a:defRPr/>
            </a:pPr>
            <a:r>
              <a:rPr kumimoji="1" lang="en-GB" sz="1700" b="1" dirty="0">
                <a:solidFill>
                  <a:srgbClr val="990000"/>
                </a:solidFill>
                <a:latin typeface="+mj-lt"/>
              </a:rPr>
              <a:t>		C</a:t>
            </a:r>
            <a:r>
              <a:rPr kumimoji="1" lang="en-GB" sz="1700" b="1" dirty="0">
                <a:latin typeface="+mj-lt"/>
              </a:rPr>
              <a:t>ould have </a:t>
            </a:r>
            <a:r>
              <a:rPr kumimoji="1" lang="en-GB" sz="1700" dirty="0">
                <a:latin typeface="+mj-lt"/>
              </a:rPr>
              <a:t>– left out without impacting on project</a:t>
            </a:r>
          </a:p>
          <a:p>
            <a:pPr>
              <a:spcAft>
                <a:spcPts val="0"/>
              </a:spcAft>
              <a:buNone/>
              <a:defRPr/>
            </a:pPr>
            <a:r>
              <a:rPr kumimoji="1" lang="en-US" sz="1700" b="1" dirty="0">
                <a:solidFill>
                  <a:srgbClr val="990000"/>
                </a:solidFill>
                <a:latin typeface="+mj-lt"/>
              </a:rPr>
              <a:t>		W</a:t>
            </a:r>
            <a:r>
              <a:rPr kumimoji="1" lang="en-US" sz="1700" b="1" dirty="0">
                <a:latin typeface="+mj-lt"/>
              </a:rPr>
              <a:t>ant to have but Won't have </a:t>
            </a:r>
            <a:r>
              <a:rPr kumimoji="1" lang="en-US" sz="1700" dirty="0">
                <a:latin typeface="+mj-lt"/>
              </a:rPr>
              <a:t>this time for those valuable requirements that can wait till later development takes place; in other words, the Waiting List.</a:t>
            </a:r>
            <a:endParaRPr kumimoji="1" lang="en-GB" sz="17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884DAD3E-AECD-ED38-3F2B-D35DBFF31582}"/>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graphicFrame>
        <p:nvGraphicFramePr>
          <p:cNvPr id="6" name="Content Placeholder 3">
            <a:extLst>
              <a:ext uri="{FF2B5EF4-FFF2-40B4-BE49-F238E27FC236}">
                <a16:creationId xmlns:a16="http://schemas.microsoft.com/office/drawing/2014/main" id="{C72CA010-DCB8-5080-9EC9-A6C57B50DF95}"/>
              </a:ext>
            </a:extLst>
          </p:cNvPr>
          <p:cNvGraphicFramePr>
            <a:graphicFrameLocks/>
          </p:cNvGraphicFramePr>
          <p:nvPr>
            <p:extLst>
              <p:ext uri="{D42A27DB-BD31-4B8C-83A1-F6EECF244321}">
                <p14:modId xmlns:p14="http://schemas.microsoft.com/office/powerpoint/2010/main" val="849799946"/>
              </p:ext>
            </p:extLst>
          </p:nvPr>
        </p:nvGraphicFramePr>
        <p:xfrm>
          <a:off x="0" y="3860638"/>
          <a:ext cx="12192000" cy="2997362"/>
        </p:xfrm>
        <a:graphic>
          <a:graphicData uri="http://schemas.openxmlformats.org/drawingml/2006/table">
            <a:tbl>
              <a:tblPr firstRow="1" bandRow="1">
                <a:tableStyleId>{5C22544A-7EE6-4342-B048-85BDC9FD1C3A}</a:tableStyleId>
              </a:tblPr>
              <a:tblGrid>
                <a:gridCol w="2684956">
                  <a:extLst>
                    <a:ext uri="{9D8B030D-6E8A-4147-A177-3AD203B41FA5}">
                      <a16:colId xmlns:a16="http://schemas.microsoft.com/office/drawing/2014/main" val="2128192346"/>
                    </a:ext>
                  </a:extLst>
                </a:gridCol>
                <a:gridCol w="5275887">
                  <a:extLst>
                    <a:ext uri="{9D8B030D-6E8A-4147-A177-3AD203B41FA5}">
                      <a16:colId xmlns:a16="http://schemas.microsoft.com/office/drawing/2014/main" val="1220578706"/>
                    </a:ext>
                  </a:extLst>
                </a:gridCol>
                <a:gridCol w="4231157">
                  <a:extLst>
                    <a:ext uri="{9D8B030D-6E8A-4147-A177-3AD203B41FA5}">
                      <a16:colId xmlns:a16="http://schemas.microsoft.com/office/drawing/2014/main" val="443739644"/>
                    </a:ext>
                  </a:extLst>
                </a:gridCol>
              </a:tblGrid>
              <a:tr h="327217">
                <a:tc>
                  <a:txBody>
                    <a:bodyPr/>
                    <a:lstStyle/>
                    <a:p>
                      <a:pPr>
                        <a:buNone/>
                      </a:pPr>
                      <a:r>
                        <a:rPr lang="en-US" sz="1700" b="1"/>
                        <a:t>Category</a:t>
                      </a:r>
                      <a:endParaRPr lang="en-US" sz="1700"/>
                    </a:p>
                  </a:txBody>
                  <a:tcPr anchor="ctr"/>
                </a:tc>
                <a:tc>
                  <a:txBody>
                    <a:bodyPr/>
                    <a:lstStyle/>
                    <a:p>
                      <a:pPr>
                        <a:buNone/>
                      </a:pPr>
                      <a:r>
                        <a:rPr lang="en-US" sz="1700" b="1"/>
                        <a:t>Meaning</a:t>
                      </a:r>
                      <a:endParaRPr lang="en-US" sz="1700"/>
                    </a:p>
                  </a:txBody>
                  <a:tcPr anchor="ctr"/>
                </a:tc>
                <a:tc>
                  <a:txBody>
                    <a:bodyPr/>
                    <a:lstStyle/>
                    <a:p>
                      <a:pPr>
                        <a:buNone/>
                      </a:pPr>
                      <a:r>
                        <a:rPr lang="en-US" sz="1700" b="1"/>
                        <a:t>Example</a:t>
                      </a:r>
                      <a:endParaRPr lang="en-US" sz="1700"/>
                    </a:p>
                  </a:txBody>
                  <a:tcPr anchor="ctr"/>
                </a:tc>
                <a:extLst>
                  <a:ext uri="{0D108BD9-81ED-4DB2-BD59-A6C34878D82A}">
                    <a16:rowId xmlns:a16="http://schemas.microsoft.com/office/drawing/2014/main" val="2331962662"/>
                  </a:ext>
                </a:extLst>
              </a:tr>
              <a:tr h="591914">
                <a:tc>
                  <a:txBody>
                    <a:bodyPr/>
                    <a:lstStyle/>
                    <a:p>
                      <a:pPr>
                        <a:buNone/>
                      </a:pPr>
                      <a:r>
                        <a:rPr lang="en-US" sz="1700" b="1"/>
                        <a:t>Must-have</a:t>
                      </a:r>
                      <a:endParaRPr lang="en-US" sz="1700"/>
                    </a:p>
                  </a:txBody>
                  <a:tcPr anchor="ctr"/>
                </a:tc>
                <a:tc>
                  <a:txBody>
                    <a:bodyPr/>
                    <a:lstStyle/>
                    <a:p>
                      <a:pPr>
                        <a:buNone/>
                      </a:pPr>
                      <a:r>
                        <a:rPr lang="en-US" sz="1700" b="1"/>
                        <a:t>Essential requirements</a:t>
                      </a:r>
                      <a:r>
                        <a:rPr lang="en-US" sz="1700"/>
                        <a:t> that are critical for system success.</a:t>
                      </a:r>
                    </a:p>
                  </a:txBody>
                  <a:tcPr anchor="ctr"/>
                </a:tc>
                <a:tc>
                  <a:txBody>
                    <a:bodyPr/>
                    <a:lstStyle/>
                    <a:p>
                      <a:pPr>
                        <a:buNone/>
                      </a:pPr>
                      <a:r>
                        <a:rPr lang="en-US" sz="1700"/>
                        <a:t>User login functionality; data encryption; payment processing.</a:t>
                      </a:r>
                    </a:p>
                  </a:txBody>
                  <a:tcPr anchor="ctr"/>
                </a:tc>
                <a:extLst>
                  <a:ext uri="{0D108BD9-81ED-4DB2-BD59-A6C34878D82A}">
                    <a16:rowId xmlns:a16="http://schemas.microsoft.com/office/drawing/2014/main" val="1061569011"/>
                  </a:ext>
                </a:extLst>
              </a:tr>
              <a:tr h="591914">
                <a:tc>
                  <a:txBody>
                    <a:bodyPr/>
                    <a:lstStyle/>
                    <a:p>
                      <a:pPr>
                        <a:buNone/>
                      </a:pPr>
                      <a:r>
                        <a:rPr lang="en-US" sz="1700" b="1"/>
                        <a:t>Should-have</a:t>
                      </a:r>
                      <a:endParaRPr lang="en-US" sz="1700"/>
                    </a:p>
                  </a:txBody>
                  <a:tcPr anchor="ctr"/>
                </a:tc>
                <a:tc>
                  <a:txBody>
                    <a:bodyPr/>
                    <a:lstStyle/>
                    <a:p>
                      <a:pPr>
                        <a:buNone/>
                      </a:pPr>
                      <a:r>
                        <a:rPr lang="en-US" sz="1700" b="1"/>
                        <a:t>Important features</a:t>
                      </a:r>
                      <a:r>
                        <a:rPr lang="en-US" sz="1700"/>
                        <a:t>, but not vital for initial delivery.</a:t>
                      </a:r>
                    </a:p>
                  </a:txBody>
                  <a:tcPr anchor="ctr"/>
                </a:tc>
                <a:tc>
                  <a:txBody>
                    <a:bodyPr/>
                    <a:lstStyle/>
                    <a:p>
                      <a:pPr>
                        <a:buNone/>
                      </a:pPr>
                      <a:r>
                        <a:rPr lang="en-US" sz="1700"/>
                        <a:t>Password reset option; mobile responsiveness; role-based access.</a:t>
                      </a:r>
                    </a:p>
                  </a:txBody>
                  <a:tcPr anchor="ctr"/>
                </a:tc>
                <a:extLst>
                  <a:ext uri="{0D108BD9-81ED-4DB2-BD59-A6C34878D82A}">
                    <a16:rowId xmlns:a16="http://schemas.microsoft.com/office/drawing/2014/main" val="120822489"/>
                  </a:ext>
                </a:extLst>
              </a:tr>
              <a:tr h="591914">
                <a:tc>
                  <a:txBody>
                    <a:bodyPr/>
                    <a:lstStyle/>
                    <a:p>
                      <a:pPr>
                        <a:buNone/>
                      </a:pPr>
                      <a:r>
                        <a:rPr lang="en-US" sz="1700" b="1"/>
                        <a:t>Could-have</a:t>
                      </a:r>
                      <a:endParaRPr lang="en-US" sz="1700"/>
                    </a:p>
                  </a:txBody>
                  <a:tcPr anchor="ctr"/>
                </a:tc>
                <a:tc>
                  <a:txBody>
                    <a:bodyPr/>
                    <a:lstStyle/>
                    <a:p>
                      <a:pPr>
                        <a:buNone/>
                      </a:pPr>
                      <a:r>
                        <a:rPr lang="en-US" sz="1700" b="1" dirty="0"/>
                        <a:t>Nice-to-have enhancements</a:t>
                      </a:r>
                      <a:r>
                        <a:rPr lang="en-US" sz="1700" dirty="0"/>
                        <a:t> that have little impact if left out.</a:t>
                      </a:r>
                    </a:p>
                  </a:txBody>
                  <a:tcPr anchor="ctr"/>
                </a:tc>
                <a:tc>
                  <a:txBody>
                    <a:bodyPr/>
                    <a:lstStyle/>
                    <a:p>
                      <a:pPr>
                        <a:buNone/>
                      </a:pPr>
                      <a:r>
                        <a:rPr lang="en-US" sz="1700"/>
                        <a:t>Dark mode; advanced analytics dashboard; chatbot.</a:t>
                      </a:r>
                    </a:p>
                  </a:txBody>
                  <a:tcPr anchor="ctr"/>
                </a:tc>
                <a:extLst>
                  <a:ext uri="{0D108BD9-81ED-4DB2-BD59-A6C34878D82A}">
                    <a16:rowId xmlns:a16="http://schemas.microsoft.com/office/drawing/2014/main" val="1979679995"/>
                  </a:ext>
                </a:extLst>
              </a:tr>
              <a:tr h="818042">
                <a:tc>
                  <a:txBody>
                    <a:bodyPr/>
                    <a:lstStyle/>
                    <a:p>
                      <a:pPr>
                        <a:buNone/>
                      </a:pPr>
                      <a:r>
                        <a:rPr lang="en-US" sz="1700" b="1" dirty="0"/>
                        <a:t>Won’t-have (this time)</a:t>
                      </a:r>
                      <a:endParaRPr lang="en-US" sz="1700" dirty="0"/>
                    </a:p>
                  </a:txBody>
                  <a:tcPr anchor="ctr"/>
                </a:tc>
                <a:tc>
                  <a:txBody>
                    <a:bodyPr/>
                    <a:lstStyle/>
                    <a:p>
                      <a:pPr>
                        <a:buNone/>
                      </a:pPr>
                      <a:r>
                        <a:rPr lang="en-US" sz="1700" b="1"/>
                        <a:t>Least priority</a:t>
                      </a:r>
                      <a:r>
                        <a:rPr lang="en-US" sz="1700"/>
                        <a:t>, out of scope for now, but may be considered in future.</a:t>
                      </a:r>
                    </a:p>
                  </a:txBody>
                  <a:tcPr anchor="ctr"/>
                </a:tc>
                <a:tc>
                  <a:txBody>
                    <a:bodyPr/>
                    <a:lstStyle/>
                    <a:p>
                      <a:pPr>
                        <a:buNone/>
                      </a:pPr>
                      <a:r>
                        <a:rPr lang="en-US" sz="1700" dirty="0"/>
                        <a:t>Third-party integrations; multilingual support; gamification.</a:t>
                      </a:r>
                    </a:p>
                  </a:txBody>
                  <a:tcPr anchor="ctr"/>
                </a:tc>
                <a:extLst>
                  <a:ext uri="{0D108BD9-81ED-4DB2-BD59-A6C34878D82A}">
                    <a16:rowId xmlns:a16="http://schemas.microsoft.com/office/drawing/2014/main" val="264841971"/>
                  </a:ext>
                </a:extLst>
              </a:tr>
            </a:tbl>
          </a:graphicData>
        </a:graphic>
      </p:graphicFrame>
    </p:spTree>
    <p:extLst>
      <p:ext uri="{BB962C8B-B14F-4D97-AF65-F5344CB8AC3E}">
        <p14:creationId xmlns:p14="http://schemas.microsoft.com/office/powerpoint/2010/main" val="248142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Dsdm</a:t>
            </a:r>
            <a:r>
              <a:rPr lang="en-GB" dirty="0"/>
              <a:t> Techniques:  prototyping </a:t>
            </a:r>
          </a:p>
        </p:txBody>
      </p:sp>
      <p:sp>
        <p:nvSpPr>
          <p:cNvPr id="3" name="Content Placeholder 2"/>
          <p:cNvSpPr>
            <a:spLocks noGrp="1"/>
          </p:cNvSpPr>
          <p:nvPr>
            <p:ph idx="1"/>
          </p:nvPr>
        </p:nvSpPr>
        <p:spPr>
          <a:xfrm>
            <a:off x="561703" y="2090057"/>
            <a:ext cx="10972801" cy="4153988"/>
          </a:xfrm>
        </p:spPr>
        <p:txBody>
          <a:bodyPr>
            <a:noAutofit/>
          </a:bodyPr>
          <a:lstStyle/>
          <a:p>
            <a:pPr fontAlgn="t">
              <a:lnSpc>
                <a:spcPct val="90000"/>
              </a:lnSpc>
              <a:buNone/>
              <a:defRPr/>
            </a:pPr>
            <a:r>
              <a:rPr lang="en-GB" sz="2200" b="1" dirty="0">
                <a:solidFill>
                  <a:srgbClr val="C00000"/>
                </a:solidFill>
                <a:latin typeface="+mj-lt"/>
                <a:cs typeface="Arial" pitchFamily="34" charset="0"/>
              </a:rPr>
              <a:t>Prototypes are necessary in DSDM because</a:t>
            </a:r>
            <a:r>
              <a:rPr lang="en-GB" sz="2200" dirty="0">
                <a:solidFill>
                  <a:srgbClr val="000000"/>
                </a:solidFill>
                <a:latin typeface="+mj-lt"/>
                <a:cs typeface="Arial" pitchFamily="34" charset="0"/>
              </a:rPr>
              <a:t> </a:t>
            </a:r>
            <a:br>
              <a:rPr lang="en-GB" sz="2200" dirty="0">
                <a:solidFill>
                  <a:srgbClr val="000000"/>
                </a:solidFill>
                <a:latin typeface="+mj-lt"/>
                <a:cs typeface="Arial" pitchFamily="34" charset="0"/>
              </a:rPr>
            </a:br>
            <a:endParaRPr lang="en-GB" sz="2200" dirty="0">
              <a:solidFill>
                <a:srgbClr val="000000"/>
              </a:solidFill>
              <a:latin typeface="+mj-lt"/>
              <a:cs typeface="Arial" pitchFamily="34" charset="0"/>
            </a:endParaRPr>
          </a:p>
          <a:p>
            <a:pPr fontAlgn="t">
              <a:lnSpc>
                <a:spcPct val="90000"/>
              </a:lnSpc>
              <a:buFont typeface="Wingdings" pitchFamily="2" charset="2"/>
              <a:buChar char="§"/>
              <a:defRPr/>
            </a:pPr>
            <a:r>
              <a:rPr lang="en-GB" sz="2200" dirty="0">
                <a:solidFill>
                  <a:srgbClr val="000000"/>
                </a:solidFill>
                <a:latin typeface="+mj-lt"/>
                <a:cs typeface="Arial" pitchFamily="34" charset="0"/>
              </a:rPr>
              <a:t>Facilitated workshops define the high-level requirements and strategy </a:t>
            </a:r>
          </a:p>
          <a:p>
            <a:pPr fontAlgn="t">
              <a:lnSpc>
                <a:spcPct val="90000"/>
              </a:lnSpc>
              <a:buFont typeface="Wingdings" pitchFamily="2" charset="2"/>
              <a:buChar char="§"/>
              <a:defRPr/>
            </a:pPr>
            <a:r>
              <a:rPr lang="en-GB" sz="2200" dirty="0">
                <a:solidFill>
                  <a:srgbClr val="000000"/>
                </a:solidFill>
                <a:latin typeface="+mj-lt"/>
                <a:cs typeface="Arial" pitchFamily="34" charset="0"/>
              </a:rPr>
              <a:t>Prototypes provide the mechanism through which users can ensure that the detail of the requirements is correct</a:t>
            </a:r>
          </a:p>
          <a:p>
            <a:pPr fontAlgn="t">
              <a:lnSpc>
                <a:spcPct val="90000"/>
              </a:lnSpc>
              <a:buFont typeface="Wingdings" pitchFamily="2" charset="2"/>
              <a:buChar char="§"/>
              <a:defRPr/>
            </a:pPr>
            <a:r>
              <a:rPr lang="en-GB" sz="2200" dirty="0">
                <a:solidFill>
                  <a:srgbClr val="000000"/>
                </a:solidFill>
                <a:latin typeface="+mj-lt"/>
                <a:cs typeface="Arial" pitchFamily="34" charset="0"/>
              </a:rPr>
              <a:t>Demonstration of a prototype broadens the users awareness of the possibilities and assists them in giving feedback to the developers </a:t>
            </a:r>
          </a:p>
          <a:p>
            <a:pPr fontAlgn="t">
              <a:lnSpc>
                <a:spcPct val="90000"/>
              </a:lnSpc>
              <a:buFont typeface="Wingdings" pitchFamily="2" charset="2"/>
              <a:buChar char="§"/>
              <a:defRPr/>
            </a:pPr>
            <a:r>
              <a:rPr lang="en-GB" sz="2200" dirty="0">
                <a:solidFill>
                  <a:srgbClr val="000000"/>
                </a:solidFill>
                <a:latin typeface="+mj-lt"/>
                <a:cs typeface="Arial" pitchFamily="34" charset="0"/>
              </a:rPr>
              <a:t>Speeds up the development process and increases confidence that the right solution will be delivered</a:t>
            </a:r>
          </a:p>
          <a:p>
            <a:pPr>
              <a:spcAft>
                <a:spcPts val="0"/>
              </a:spcAft>
              <a:buFont typeface="Wingdings" pitchFamily="2" charset="2"/>
              <a:buChar char="q"/>
              <a:defRPr/>
            </a:pPr>
            <a:endParaRPr kumimoji="1" lang="en-GB" sz="2000" dirty="0">
              <a:latin typeface="+mj-lt"/>
            </a:endParaRPr>
          </a:p>
        </p:txBody>
      </p:sp>
      <p:sp>
        <p:nvSpPr>
          <p:cNvPr id="5" name="Slide Number Placeholder 3"/>
          <p:cNvSpPr txBox="1">
            <a:spLocks/>
          </p:cNvSpPr>
          <p:nvPr/>
        </p:nvSpPr>
        <p:spPr>
          <a:xfrm>
            <a:off x="11766177" y="605119"/>
            <a:ext cx="238589" cy="1027738"/>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a:t>
            </a:r>
            <a:fld id="{D57F1E4F-1CFF-5643-939E-217C01CDF565}" type="slidenum">
              <a:rPr kumimoji="0" lang="en-US" sz="1400" b="1" i="0" u="none" strike="noStrike" kern="1200" cap="none" spc="0" normalizeH="0" baseline="0" noProof="0" smtClean="0">
                <a:ln>
                  <a:noFill/>
                </a:ln>
                <a:solidFill>
                  <a:schemeClr val="accent2"/>
                </a:solidFill>
                <a:effectLst/>
                <a:uLnTx/>
                <a:uFillTx/>
                <a:latin typeface="+mn-lt"/>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Content Placeholder 2">
            <a:extLst>
              <a:ext uri="{FF2B5EF4-FFF2-40B4-BE49-F238E27FC236}">
                <a16:creationId xmlns:a16="http://schemas.microsoft.com/office/drawing/2014/main" id="{0A1342B0-CAC0-F44A-B4EC-A227ECBA0EAC}"/>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3817944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790200" y="2063932"/>
            <a:ext cx="10953310" cy="2625634"/>
          </a:xfrm>
        </p:spPr>
        <p:txBody>
          <a:bodyPr>
            <a:normAutofit/>
          </a:bodyPr>
          <a:lstStyle/>
          <a:p>
            <a:pPr>
              <a:defRPr/>
            </a:pPr>
            <a:r>
              <a:rPr lang="en-US" sz="2000" dirty="0">
                <a:ea typeface="ＭＳ Ｐゴシック" pitchFamily="34" charset="-128"/>
              </a:rPr>
              <a:t>R.S. Pressman &amp; Associates, Inc. (2010). </a:t>
            </a:r>
            <a:r>
              <a:rPr lang="en-US" sz="2000" i="1" dirty="0">
                <a:ea typeface="ＭＳ Ｐゴシック" pitchFamily="34" charset="-128"/>
              </a:rPr>
              <a:t>Software Engineering: A Practitioner’s Approach.</a:t>
            </a:r>
          </a:p>
          <a:p>
            <a:pPr>
              <a:defRPr/>
            </a:pPr>
            <a:r>
              <a:rPr lang="en-US" sz="2000" dirty="0"/>
              <a:t>Kelly, J. C., </a:t>
            </a:r>
            <a:r>
              <a:rPr lang="en-US" sz="2000" dirty="0" err="1"/>
              <a:t>Sherif</a:t>
            </a:r>
            <a:r>
              <a:rPr lang="en-US" sz="2000" dirty="0"/>
              <a:t>, J. S., &amp; Hops, J. (1992). An analysis of defect densities found during software inspections. </a:t>
            </a:r>
            <a:r>
              <a:rPr lang="en-US" sz="2000" i="1" dirty="0"/>
              <a:t>Journal of Systems and Software</a:t>
            </a:r>
            <a:r>
              <a:rPr lang="en-US" sz="2000" dirty="0"/>
              <a:t>, </a:t>
            </a:r>
            <a:r>
              <a:rPr lang="en-US" sz="2000" i="1" dirty="0"/>
              <a:t>17</a:t>
            </a:r>
            <a:r>
              <a:rPr lang="en-US" sz="2000" dirty="0"/>
              <a:t>(2), 111-117.</a:t>
            </a:r>
          </a:p>
          <a:p>
            <a:pPr>
              <a:defRPr/>
            </a:pPr>
            <a:r>
              <a:rPr lang="en-US" sz="2000" dirty="0"/>
              <a:t>Bhandari, I., Halliday, M. J., </a:t>
            </a:r>
            <a:r>
              <a:rPr lang="en-US" sz="2000" dirty="0" err="1"/>
              <a:t>Chaar</a:t>
            </a:r>
            <a:r>
              <a:rPr lang="en-US" sz="2000" dirty="0"/>
              <a:t>, J., </a:t>
            </a:r>
            <a:r>
              <a:rPr lang="en-US" sz="2000" dirty="0" err="1"/>
              <a:t>Chillarege</a:t>
            </a:r>
            <a:r>
              <a:rPr lang="en-US" sz="2000" dirty="0"/>
              <a:t>, R., Jones, K., Atkinson, J. S., &amp; </a:t>
            </a:r>
            <a:r>
              <a:rPr lang="en-US" sz="2000" dirty="0" err="1"/>
              <a:t>Yonezawa</a:t>
            </a:r>
            <a:r>
              <a:rPr lang="en-US" sz="2000" dirty="0"/>
              <a:t>, M. (1994).</a:t>
            </a:r>
            <a:br>
              <a:rPr lang="en-US" sz="2000" dirty="0"/>
            </a:br>
            <a:r>
              <a:rPr lang="en-US" sz="2000" dirty="0"/>
              <a:t>In-process improvement through defect data interpretation. </a:t>
            </a:r>
            <a:r>
              <a:rPr lang="en-US" sz="2000" i="1" dirty="0"/>
              <a:t>IBM Systems Journal</a:t>
            </a:r>
            <a:r>
              <a:rPr lang="en-US" sz="2000" dirty="0"/>
              <a:t>, </a:t>
            </a:r>
            <a:r>
              <a:rPr lang="en-US" sz="2000" i="1" dirty="0"/>
              <a:t>33</a:t>
            </a:r>
            <a:r>
              <a:rPr lang="en-US" sz="2000" dirty="0"/>
              <a:t>(1), 182-214.</a:t>
            </a:r>
            <a:endParaRPr lang="en-US" sz="2000" dirty="0">
              <a:ea typeface="ＭＳ Ｐゴシック" pitchFamily="34" charset="-128"/>
            </a:endParaRPr>
          </a:p>
          <a:p>
            <a:pPr>
              <a:defRPr/>
            </a:pPr>
            <a:endParaRPr lang="en-US" altLang="zh-TW" sz="2000" dirty="0">
              <a:solidFill>
                <a:srgbClr val="00B050"/>
              </a:solidFill>
              <a:latin typeface="+mj-lt"/>
              <a:ea typeface="PMingLiU" pitchFamily="18" charset="-120"/>
            </a:endParaRPr>
          </a:p>
        </p:txBody>
      </p:sp>
      <p:sp>
        <p:nvSpPr>
          <p:cNvPr id="6" name="Slide Number Placeholder 3"/>
          <p:cNvSpPr txBox="1">
            <a:spLocks/>
          </p:cNvSpPr>
          <p:nvPr/>
        </p:nvSpPr>
        <p:spPr>
          <a:xfrm>
            <a:off x="11665746" y="587829"/>
            <a:ext cx="425823" cy="1225165"/>
          </a:xfrm>
          <a:prstGeom prst="rect">
            <a:avLst/>
          </a:prstGeom>
        </p:spPr>
        <p:txBody>
          <a:bodyPr vert="vert270"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mn-lt"/>
                <a:ea typeface="+mn-ea"/>
                <a:cs typeface="+mn-cs"/>
              </a:rPr>
              <a:t>Slide - 15</a:t>
            </a:r>
          </a:p>
        </p:txBody>
      </p:sp>
      <p:sp>
        <p:nvSpPr>
          <p:cNvPr id="5" name="Content Placeholder 2">
            <a:extLst>
              <a:ext uri="{FF2B5EF4-FFF2-40B4-BE49-F238E27FC236}">
                <a16:creationId xmlns:a16="http://schemas.microsoft.com/office/drawing/2014/main" id="{EE8176D0-23A2-356A-CFC7-510A6BE3152B}"/>
              </a:ext>
            </a:extLst>
          </p:cNvPr>
          <p:cNvSpPr>
            <a:spLocks noGrp="1"/>
          </p:cNvSpPr>
          <p:nvPr/>
        </p:nvSpPr>
        <p:spPr>
          <a:xfrm>
            <a:off x="11551428" y="658215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ctr">
              <a:buNone/>
            </a:pPr>
            <a:r>
              <a:rPr lang="en-US" sz="3800" dirty="0">
                <a:solidFill>
                  <a:schemeClr val="bg1">
                    <a:lumMod val="50000"/>
                  </a:schemeClr>
                </a:solidFill>
              </a:rPr>
              <a:t>SB</a:t>
            </a:r>
          </a:p>
        </p:txBody>
      </p:sp>
    </p:spTree>
    <p:extLst>
      <p:ext uri="{BB962C8B-B14F-4D97-AF65-F5344CB8AC3E}">
        <p14:creationId xmlns:p14="http://schemas.microsoft.com/office/powerpoint/2010/main" val="64039236"/>
      </p:ext>
    </p:extLst>
  </p:cSld>
  <p:clrMapOvr>
    <a:masterClrMapping/>
  </p:clrMapOvr>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1377</Words>
  <Application>Microsoft Office PowerPoint</Application>
  <PresentationFormat>Widescreen</PresentationFormat>
  <Paragraphs>179</Paragraphs>
  <Slides>15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ＭＳ Ｐゴシック</vt:lpstr>
      <vt:lpstr>18</vt:lpstr>
      <vt:lpstr>Arial</vt:lpstr>
      <vt:lpstr>Calibri</vt:lpstr>
      <vt:lpstr>Gill Sans MT</vt:lpstr>
      <vt:lpstr>Logica</vt:lpstr>
      <vt:lpstr>Wingdings</vt:lpstr>
      <vt:lpstr>Wingdings 2</vt:lpstr>
      <vt:lpstr>Dividend</vt:lpstr>
      <vt:lpstr>PowerPoint Presentation</vt:lpstr>
      <vt:lpstr>dsdm</vt:lpstr>
      <vt:lpstr>Traditional method vs. Dsdm</vt:lpstr>
      <vt:lpstr>Dsdm process view</vt:lpstr>
      <vt:lpstr>Dsdm process</vt:lpstr>
      <vt:lpstr>Dsdm process</vt:lpstr>
      <vt:lpstr>Dsdm process</vt:lpstr>
      <vt:lpstr>Dsdm process</vt:lpstr>
      <vt:lpstr>Difference between Traditional development vs. dsdm</vt:lpstr>
      <vt:lpstr>Techniques to consider in dsdm</vt:lpstr>
      <vt:lpstr>Dsdm Techniques: flexibility</vt:lpstr>
      <vt:lpstr>Dsdm Techniques:  timeboxing</vt:lpstr>
      <vt:lpstr>Dsdm Techniques:  Moscow rules</vt:lpstr>
      <vt:lpstr>Dsdm Techniques:  prototyping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Ch.06 - DSDM</dc:title>
  <dc:subject>Software Engineering</dc:subject>
  <dc:creator>M. Mahmudul Hasan</dc:creator>
  <cp:lastModifiedBy>MD. RAIHAN MAHMUD</cp:lastModifiedBy>
  <cp:revision>42</cp:revision>
  <dcterms:created xsi:type="dcterms:W3CDTF">2019-05-13T08:37:20Z</dcterms:created>
  <dcterms:modified xsi:type="dcterms:W3CDTF">2026-02-10T13:44:53Z</dcterms:modified>
</cp:coreProperties>
</file>